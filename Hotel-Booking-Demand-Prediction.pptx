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ource Serif Pro" charset="1" panose="02040603050405020204"/>
      <p:regular r:id="rId24"/>
    </p:embeddedFont>
    <p:embeddedFont>
      <p:font typeface="Source Sans 3" charset="1" panose="020B0303030403020204"/>
      <p:regular r:id="rId25"/>
    </p:embeddedFont>
    <p:embeddedFont>
      <p:font typeface="Source Sans 3 Bold" charset="1" panose="020B0303030403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305940" y="-402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950" y="2438543"/>
            <a:ext cx="9342758" cy="178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spc="-111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Hotel Booking Demand 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950" y="4338761"/>
            <a:ext cx="4080275" cy="39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614" spc="-53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IBM AI-Project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514" y="5151468"/>
            <a:ext cx="9342758" cy="184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 Name: SURAJ KUMAR</a:t>
            </a:r>
          </a:p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Enrollment No:A35404825103</a:t>
            </a:r>
          </a:p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Course : BCA</a:t>
            </a:r>
          </a:p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Institution: AMITY UNIVERSITY JHARKHAND RANCHI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4809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950" y="2300021"/>
            <a:ext cx="9342758" cy="73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spc="-88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950" y="3466862"/>
            <a:ext cx="9342758" cy="368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Hotels require reliable daily demand estimates for staffing, inventory, and pricing.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Daily booking demand exhibits temporal variation (weekly, seasonal, yearly).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Historical booking patterns can inform predictive models.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project applies machine-learning regression to predict daily hotel demand.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0398" y="7392038"/>
            <a:ext cx="10257844" cy="57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sz="2326" spc="-46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Historical Booking Data → Machine Learning → Demand Prediction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2121437"/>
            <a:ext cx="16205949" cy="73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spc="-88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Project Objective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3178" y="3448812"/>
            <a:ext cx="5211880" cy="2205571"/>
            <a:chOff x="0" y="0"/>
            <a:chExt cx="6949173" cy="29407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49186" cy="2940685"/>
            </a:xfrm>
            <a:custGeom>
              <a:avLst/>
              <a:gdLst/>
              <a:ahLst/>
              <a:cxnLst/>
              <a:rect r="r" b="b" t="t" l="l"/>
              <a:pathLst>
                <a:path h="2940685" w="6949186">
                  <a:moveTo>
                    <a:pt x="0" y="168402"/>
                  </a:moveTo>
                  <a:cubicBezTo>
                    <a:pt x="0" y="75438"/>
                    <a:pt x="75438" y="0"/>
                    <a:pt x="168402" y="0"/>
                  </a:cubicBezTo>
                  <a:lnTo>
                    <a:pt x="6780784" y="0"/>
                  </a:lnTo>
                  <a:cubicBezTo>
                    <a:pt x="6873748" y="0"/>
                    <a:pt x="6949186" y="75438"/>
                    <a:pt x="6949186" y="168402"/>
                  </a:cubicBezTo>
                  <a:lnTo>
                    <a:pt x="6949186" y="2772283"/>
                  </a:lnTo>
                  <a:cubicBezTo>
                    <a:pt x="6949186" y="2865247"/>
                    <a:pt x="6873748" y="2940685"/>
                    <a:pt x="6780784" y="2940685"/>
                  </a:cubicBezTo>
                  <a:lnTo>
                    <a:pt x="168402" y="2940685"/>
                  </a:lnTo>
                  <a:cubicBezTo>
                    <a:pt x="75438" y="2940812"/>
                    <a:pt x="0" y="2865374"/>
                    <a:pt x="0" y="2772283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56846" y="3752964"/>
            <a:ext cx="4584544" cy="4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5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Primary Goal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6846" y="4287145"/>
            <a:ext cx="4584544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Predict daily hotel booking demand from historical records.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904" y="3448812"/>
            <a:ext cx="5211880" cy="2205571"/>
            <a:chOff x="0" y="0"/>
            <a:chExt cx="6949173" cy="29407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49186" cy="2940685"/>
            </a:xfrm>
            <a:custGeom>
              <a:avLst/>
              <a:gdLst/>
              <a:ahLst/>
              <a:cxnLst/>
              <a:rect r="r" b="b" t="t" l="l"/>
              <a:pathLst>
                <a:path h="2940685" w="6949186">
                  <a:moveTo>
                    <a:pt x="0" y="168402"/>
                  </a:moveTo>
                  <a:cubicBezTo>
                    <a:pt x="0" y="75438"/>
                    <a:pt x="75438" y="0"/>
                    <a:pt x="168402" y="0"/>
                  </a:cubicBezTo>
                  <a:lnTo>
                    <a:pt x="6780784" y="0"/>
                  </a:lnTo>
                  <a:cubicBezTo>
                    <a:pt x="6873748" y="0"/>
                    <a:pt x="6949186" y="75438"/>
                    <a:pt x="6949186" y="168402"/>
                  </a:cubicBezTo>
                  <a:lnTo>
                    <a:pt x="6949186" y="2772283"/>
                  </a:lnTo>
                  <a:cubicBezTo>
                    <a:pt x="6949186" y="2865247"/>
                    <a:pt x="6873748" y="2940685"/>
                    <a:pt x="6780784" y="2940685"/>
                  </a:cubicBezTo>
                  <a:lnTo>
                    <a:pt x="168402" y="2940685"/>
                  </a:lnTo>
                  <a:cubicBezTo>
                    <a:pt x="75438" y="2940812"/>
                    <a:pt x="0" y="2865374"/>
                    <a:pt x="0" y="2772283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858571" y="3752964"/>
            <a:ext cx="4584544" cy="4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5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58571" y="4287145"/>
            <a:ext cx="4584544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Explore temporal patterns and feature relationships.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46629" y="3448812"/>
            <a:ext cx="5212032" cy="2205571"/>
            <a:chOff x="0" y="0"/>
            <a:chExt cx="6949377" cy="29407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49313" cy="2940685"/>
            </a:xfrm>
            <a:custGeom>
              <a:avLst/>
              <a:gdLst/>
              <a:ahLst/>
              <a:cxnLst/>
              <a:rect r="r" b="b" t="t" l="l"/>
              <a:pathLst>
                <a:path h="2940685" w="6949313">
                  <a:moveTo>
                    <a:pt x="0" y="168402"/>
                  </a:moveTo>
                  <a:cubicBezTo>
                    <a:pt x="0" y="75438"/>
                    <a:pt x="75438" y="0"/>
                    <a:pt x="168402" y="0"/>
                  </a:cubicBezTo>
                  <a:lnTo>
                    <a:pt x="6780911" y="0"/>
                  </a:lnTo>
                  <a:cubicBezTo>
                    <a:pt x="6873875" y="0"/>
                    <a:pt x="6949313" y="75438"/>
                    <a:pt x="6949313" y="168402"/>
                  </a:cubicBezTo>
                  <a:lnTo>
                    <a:pt x="6949313" y="2772283"/>
                  </a:lnTo>
                  <a:cubicBezTo>
                    <a:pt x="6949313" y="2865247"/>
                    <a:pt x="6873875" y="2940685"/>
                    <a:pt x="6780911" y="2940685"/>
                  </a:cubicBezTo>
                  <a:lnTo>
                    <a:pt x="168402" y="2940685"/>
                  </a:lnTo>
                  <a:cubicBezTo>
                    <a:pt x="75438" y="2940812"/>
                    <a:pt x="0" y="2865374"/>
                    <a:pt x="0" y="2772283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60297" y="3752964"/>
            <a:ext cx="4584697" cy="4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5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Feature Work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60297" y="4287145"/>
            <a:ext cx="4584697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Create calendar, lag, and rolling features.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3178" y="5944229"/>
            <a:ext cx="7962824" cy="2205571"/>
            <a:chOff x="0" y="0"/>
            <a:chExt cx="10617098" cy="29407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17073" cy="2940685"/>
            </a:xfrm>
            <a:custGeom>
              <a:avLst/>
              <a:gdLst/>
              <a:ahLst/>
              <a:cxnLst/>
              <a:rect r="r" b="b" t="t" l="l"/>
              <a:pathLst>
                <a:path h="2940685" w="10617073">
                  <a:moveTo>
                    <a:pt x="0" y="168402"/>
                  </a:moveTo>
                  <a:cubicBezTo>
                    <a:pt x="0" y="75438"/>
                    <a:pt x="75438" y="0"/>
                    <a:pt x="168402" y="0"/>
                  </a:cubicBezTo>
                  <a:lnTo>
                    <a:pt x="10448671" y="0"/>
                  </a:lnTo>
                  <a:cubicBezTo>
                    <a:pt x="10541635" y="0"/>
                    <a:pt x="10617073" y="75438"/>
                    <a:pt x="10617073" y="168402"/>
                  </a:cubicBezTo>
                  <a:lnTo>
                    <a:pt x="10617073" y="2772283"/>
                  </a:lnTo>
                  <a:cubicBezTo>
                    <a:pt x="10617073" y="2865247"/>
                    <a:pt x="10541635" y="2940685"/>
                    <a:pt x="10448671" y="2940685"/>
                  </a:cubicBezTo>
                  <a:lnTo>
                    <a:pt x="168402" y="2940685"/>
                  </a:lnTo>
                  <a:cubicBezTo>
                    <a:pt x="75438" y="2940812"/>
                    <a:pt x="0" y="2865374"/>
                    <a:pt x="0" y="2772283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56846" y="6248381"/>
            <a:ext cx="7335479" cy="4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5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Modeling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6846" y="6782562"/>
            <a:ext cx="7335479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Train &amp; compare four regression models; evaluate with MAE, RMSE, R².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95838" y="5944229"/>
            <a:ext cx="7962824" cy="2205571"/>
            <a:chOff x="0" y="0"/>
            <a:chExt cx="10617098" cy="29407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17073" cy="2940685"/>
            </a:xfrm>
            <a:custGeom>
              <a:avLst/>
              <a:gdLst/>
              <a:ahLst/>
              <a:cxnLst/>
              <a:rect r="r" b="b" t="t" l="l"/>
              <a:pathLst>
                <a:path h="2940685" w="10617073">
                  <a:moveTo>
                    <a:pt x="0" y="168402"/>
                  </a:moveTo>
                  <a:cubicBezTo>
                    <a:pt x="0" y="75438"/>
                    <a:pt x="75438" y="0"/>
                    <a:pt x="168402" y="0"/>
                  </a:cubicBezTo>
                  <a:lnTo>
                    <a:pt x="10448671" y="0"/>
                  </a:lnTo>
                  <a:cubicBezTo>
                    <a:pt x="10541635" y="0"/>
                    <a:pt x="10617073" y="75438"/>
                    <a:pt x="10617073" y="168402"/>
                  </a:cubicBezTo>
                  <a:lnTo>
                    <a:pt x="10617073" y="2772283"/>
                  </a:lnTo>
                  <a:cubicBezTo>
                    <a:pt x="10617073" y="2865247"/>
                    <a:pt x="10541635" y="2940685"/>
                    <a:pt x="10448671" y="2940685"/>
                  </a:cubicBezTo>
                  <a:lnTo>
                    <a:pt x="168402" y="2940685"/>
                  </a:lnTo>
                  <a:cubicBezTo>
                    <a:pt x="75438" y="2940812"/>
                    <a:pt x="0" y="2865374"/>
                    <a:pt x="0" y="2772283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609506" y="6248381"/>
            <a:ext cx="7335479" cy="4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5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Deployment Demo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09506" y="6782562"/>
            <a:ext cx="7335479" cy="57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Predict on unseen input to demonstrate usage.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4809" y="-8039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950" y="1870319"/>
            <a:ext cx="9342758" cy="73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spc="-88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Dataset Description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950" y="3037161"/>
            <a:ext cx="9342758" cy="166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Source: Historical hotel booking data aggregated to daily records.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Prepared dataset size: </a:t>
            </a:r>
            <a:r>
              <a:rPr lang="en-US" b="true" sz="2326" spc="-46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793 daily observations</a:t>
            </a: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Target variable: </a:t>
            </a:r>
            <a:r>
              <a:rPr lang="en-US" b="true" sz="2326" spc="-46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daily hotel booking demand</a:t>
            </a: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(demand).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950" y="5139042"/>
            <a:ext cx="9342758" cy="4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5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Key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950" y="6022457"/>
            <a:ext cx="9342758" cy="107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day_of_week, month, year, week_of_year, is_weekend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lag_1, lag_7, rolling_7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950" y="7342442"/>
            <a:ext cx="9342758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Daily booking records were aggregated to create the daily demand prediction dataset.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4809" y="-8039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950" y="1802101"/>
            <a:ext cx="9342758" cy="73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spc="-88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Data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950" y="3238386"/>
            <a:ext cx="4306176" cy="512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Checked structure, missing values, and duplicates.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Processed arrival dates and aggregated bookings to daily demand.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Created calendar (time-based) features and lag / rolling features.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Used time-based train/test split to avoid leakage.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4057" y="3274257"/>
            <a:ext cx="4306176" cy="4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5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Train/Test Split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94057" y="3928186"/>
            <a:ext cx="4306176" cy="1323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b="true" sz="2326" spc="-46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Training:</a:t>
            </a: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628 observations</a:t>
            </a:r>
          </a:p>
          <a:p>
            <a:pPr algn="l">
              <a:lnSpc>
                <a:spcPts val="3713"/>
              </a:lnSpc>
            </a:pPr>
            <a:r>
              <a:rPr lang="en-US" b="true" sz="2326" spc="-46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Testing:</a:t>
            </a: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158 observations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94057" y="5425373"/>
            <a:ext cx="4306176" cy="153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sz="2326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Workflow: Raw Data → Cleaning → Daily Demand → Feature Engineering → Train/Test Split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817569"/>
            <a:ext cx="16205949" cy="635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7"/>
              </a:lnSpc>
            </a:pPr>
            <a:r>
              <a:rPr lang="en-US" sz="3827" spc="-78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Exploratory Data Analysis (EDA)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6250" y="2929666"/>
            <a:ext cx="16186857" cy="603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cleaned dataset contains 87,229 booking records and 32 columns.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City Hotel has more bookings (53,274) than Resort Hotel (33,955).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24,009 bookings were canceled, while 63,220 were not canceled.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overall cancellation rate is approximately 27.52%.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August has the highest number of bookings with 11,242 bookings, while January has the lowest with 4,685 bookings.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2016 has the highest number of bookings with 42,313 records.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Transient customers form the largest customer segment with 71,862 bookings.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Room Type A is the most frequently reserved room type with 56,435 bookings.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average total stay is approximately 3.63 nights, with a median of 3 nights.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Most bookings have relatively short stays, mainly around 1 to 5 nights.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lead time distribution is right-skewed, with a median of 49 days and an average of approximately 79.97 days.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Most bookings have no special requests.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ADR distribution is right-skewed, with most bookings concentrated at lower ADR values.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Correlation analysis shows mostly weak relationships among the selected numerical variables.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strongest observed relationship is between lead_time and total_stay_nights, with a correlation of approximately 0.321.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461" spc="-4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No very strong correlation was observed among the selected numerical features.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826951"/>
            <a:ext cx="16205949" cy="47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 spc="-58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Feature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950" y="1611582"/>
            <a:ext cx="7863326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Calendar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950" y="2081736"/>
            <a:ext cx="7863326" cy="143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886" indent="-135943" lvl="1">
              <a:lnSpc>
                <a:spcPts val="1981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day_of_week — day index (Mon–Sun)</a:t>
            </a:r>
          </a:p>
          <a:p>
            <a:pPr algn="l" marL="271886" indent="-135943" lvl="1">
              <a:lnSpc>
                <a:spcPts val="1981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month — calendar month</a:t>
            </a:r>
          </a:p>
          <a:p>
            <a:pPr algn="l" marL="271886" indent="-135943" lvl="1">
              <a:lnSpc>
                <a:spcPts val="1981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year — arrival year</a:t>
            </a:r>
          </a:p>
          <a:p>
            <a:pPr algn="l" marL="271886" indent="-135943" lvl="1">
              <a:lnSpc>
                <a:spcPts val="1981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week_of_year — ISO week number</a:t>
            </a:r>
          </a:p>
          <a:p>
            <a:pPr algn="l" marL="271886" indent="-135943" lvl="1">
              <a:lnSpc>
                <a:spcPts val="1981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is_weekend — boolean for weekend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0099" y="1611582"/>
            <a:ext cx="7863326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Historical Demand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0099" y="2081736"/>
            <a:ext cx="7863326" cy="82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886" indent="-135943" lvl="1">
              <a:lnSpc>
                <a:spcPts val="1981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lag_1 — previous day's demand</a:t>
            </a:r>
          </a:p>
          <a:p>
            <a:pPr algn="l" marL="271886" indent="-135943" lvl="1">
              <a:lnSpc>
                <a:spcPts val="1981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lag_7 — demand seven days earlier</a:t>
            </a:r>
          </a:p>
          <a:p>
            <a:pPr algn="l" marL="271886" indent="-135943" lvl="1">
              <a:lnSpc>
                <a:spcPts val="1981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rolling_7 — 7-day rolling average of demand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950" y="3759660"/>
            <a:ext cx="16205949" cy="28594"/>
            <a:chOff x="0" y="0"/>
            <a:chExt cx="21607932" cy="38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07907" cy="38100"/>
            </a:xfrm>
            <a:custGeom>
              <a:avLst/>
              <a:gdLst/>
              <a:ahLst/>
              <a:cxnLst/>
              <a:rect r="r" b="b" t="t" l="l"/>
              <a:pathLst>
                <a:path h="38100" w="2160790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588857" y="0"/>
                  </a:lnTo>
                  <a:cubicBezTo>
                    <a:pt x="21599398" y="0"/>
                    <a:pt x="21607907" y="8509"/>
                    <a:pt x="21607907" y="19050"/>
                  </a:cubicBezTo>
                  <a:cubicBezTo>
                    <a:pt x="21607907" y="29591"/>
                    <a:pt x="21599398" y="38100"/>
                    <a:pt x="2158885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47950" y="4021064"/>
            <a:ext cx="16205949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Feature importance (Random Forest)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43178" y="4508106"/>
            <a:ext cx="8048015" cy="1047969"/>
            <a:chOff x="0" y="0"/>
            <a:chExt cx="10730687" cy="13972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0611" cy="1397127"/>
            </a:xfrm>
            <a:custGeom>
              <a:avLst/>
              <a:gdLst/>
              <a:ahLst/>
              <a:cxnLst/>
              <a:rect r="r" b="b" t="t" l="l"/>
              <a:pathLst>
                <a:path h="1397127" w="10730611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10619613" y="0"/>
                  </a:lnTo>
                  <a:cubicBezTo>
                    <a:pt x="10680954" y="0"/>
                    <a:pt x="10730611" y="49784"/>
                    <a:pt x="10730611" y="110998"/>
                  </a:cubicBezTo>
                  <a:lnTo>
                    <a:pt x="10730611" y="1286129"/>
                  </a:lnTo>
                  <a:cubicBezTo>
                    <a:pt x="10730611" y="1347470"/>
                    <a:pt x="10680827" y="1397127"/>
                    <a:pt x="10619613" y="1397127"/>
                  </a:cubicBezTo>
                  <a:lnTo>
                    <a:pt x="110998" y="1397127"/>
                  </a:lnTo>
                  <a:cubicBezTo>
                    <a:pt x="49657" y="1397127"/>
                    <a:pt x="0" y="1347343"/>
                    <a:pt x="0" y="1286129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53928" y="4709331"/>
            <a:ext cx="7626515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rolling_7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3928" y="5075587"/>
            <a:ext cx="7626515" cy="26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501" spc="-31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0.504157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10494" y="4508106"/>
            <a:ext cx="8048158" cy="1047969"/>
            <a:chOff x="0" y="0"/>
            <a:chExt cx="10730878" cy="13972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30865" cy="1397127"/>
            </a:xfrm>
            <a:custGeom>
              <a:avLst/>
              <a:gdLst/>
              <a:ahLst/>
              <a:cxnLst/>
              <a:rect r="r" b="b" t="t" l="l"/>
              <a:pathLst>
                <a:path h="1397127" w="10730865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10619867" y="0"/>
                  </a:lnTo>
                  <a:cubicBezTo>
                    <a:pt x="10681208" y="0"/>
                    <a:pt x="10730865" y="49784"/>
                    <a:pt x="10730865" y="110998"/>
                  </a:cubicBezTo>
                  <a:lnTo>
                    <a:pt x="10730865" y="1286129"/>
                  </a:lnTo>
                  <a:cubicBezTo>
                    <a:pt x="10730865" y="1347470"/>
                    <a:pt x="10681081" y="1397127"/>
                    <a:pt x="10619867" y="1397127"/>
                  </a:cubicBezTo>
                  <a:lnTo>
                    <a:pt x="110998" y="1397127"/>
                  </a:lnTo>
                  <a:cubicBezTo>
                    <a:pt x="49657" y="1397127"/>
                    <a:pt x="0" y="1347343"/>
                    <a:pt x="0" y="1286129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421244" y="4709331"/>
            <a:ext cx="7626658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lag_7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1244" y="5075587"/>
            <a:ext cx="7626658" cy="26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501" spc="-31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0.166339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43178" y="5675376"/>
            <a:ext cx="8048015" cy="1047969"/>
            <a:chOff x="0" y="0"/>
            <a:chExt cx="10730687" cy="13972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611" cy="1397127"/>
            </a:xfrm>
            <a:custGeom>
              <a:avLst/>
              <a:gdLst/>
              <a:ahLst/>
              <a:cxnLst/>
              <a:rect r="r" b="b" t="t" l="l"/>
              <a:pathLst>
                <a:path h="1397127" w="10730611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10619613" y="0"/>
                  </a:lnTo>
                  <a:cubicBezTo>
                    <a:pt x="10680954" y="0"/>
                    <a:pt x="10730611" y="49784"/>
                    <a:pt x="10730611" y="110998"/>
                  </a:cubicBezTo>
                  <a:lnTo>
                    <a:pt x="10730611" y="1286129"/>
                  </a:lnTo>
                  <a:cubicBezTo>
                    <a:pt x="10730611" y="1347470"/>
                    <a:pt x="10680827" y="1397127"/>
                    <a:pt x="10619613" y="1397127"/>
                  </a:cubicBezTo>
                  <a:lnTo>
                    <a:pt x="110998" y="1397127"/>
                  </a:lnTo>
                  <a:cubicBezTo>
                    <a:pt x="49657" y="1397127"/>
                    <a:pt x="0" y="1347343"/>
                    <a:pt x="0" y="1286129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53928" y="5876611"/>
            <a:ext cx="7626515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lag_1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3928" y="6242866"/>
            <a:ext cx="7626515" cy="26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501" spc="-31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0.134810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10494" y="5675376"/>
            <a:ext cx="8048158" cy="1047969"/>
            <a:chOff x="0" y="0"/>
            <a:chExt cx="10730878" cy="13972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30865" cy="1397127"/>
            </a:xfrm>
            <a:custGeom>
              <a:avLst/>
              <a:gdLst/>
              <a:ahLst/>
              <a:cxnLst/>
              <a:rect r="r" b="b" t="t" l="l"/>
              <a:pathLst>
                <a:path h="1397127" w="10730865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10619867" y="0"/>
                  </a:lnTo>
                  <a:cubicBezTo>
                    <a:pt x="10681208" y="0"/>
                    <a:pt x="10730865" y="49784"/>
                    <a:pt x="10730865" y="110998"/>
                  </a:cubicBezTo>
                  <a:lnTo>
                    <a:pt x="10730865" y="1286129"/>
                  </a:lnTo>
                  <a:cubicBezTo>
                    <a:pt x="10730865" y="1347470"/>
                    <a:pt x="10681081" y="1397127"/>
                    <a:pt x="10619867" y="1397127"/>
                  </a:cubicBezTo>
                  <a:lnTo>
                    <a:pt x="110998" y="1397127"/>
                  </a:lnTo>
                  <a:cubicBezTo>
                    <a:pt x="49657" y="1397127"/>
                    <a:pt x="0" y="1347343"/>
                    <a:pt x="0" y="1286129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421244" y="5876611"/>
            <a:ext cx="7626658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day_of_week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1244" y="6242866"/>
            <a:ext cx="7626658" cy="26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0.079032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43178" y="6842655"/>
            <a:ext cx="8048015" cy="1047969"/>
            <a:chOff x="0" y="0"/>
            <a:chExt cx="10730687" cy="13972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30611" cy="1397127"/>
            </a:xfrm>
            <a:custGeom>
              <a:avLst/>
              <a:gdLst/>
              <a:ahLst/>
              <a:cxnLst/>
              <a:rect r="r" b="b" t="t" l="l"/>
              <a:pathLst>
                <a:path h="1397127" w="10730611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10619613" y="0"/>
                  </a:lnTo>
                  <a:cubicBezTo>
                    <a:pt x="10680954" y="0"/>
                    <a:pt x="10730611" y="49784"/>
                    <a:pt x="10730611" y="110998"/>
                  </a:cubicBezTo>
                  <a:lnTo>
                    <a:pt x="10730611" y="1286129"/>
                  </a:lnTo>
                  <a:cubicBezTo>
                    <a:pt x="10730611" y="1347470"/>
                    <a:pt x="10680827" y="1397127"/>
                    <a:pt x="10619613" y="1397127"/>
                  </a:cubicBezTo>
                  <a:lnTo>
                    <a:pt x="110998" y="1397127"/>
                  </a:lnTo>
                  <a:cubicBezTo>
                    <a:pt x="49657" y="1397127"/>
                    <a:pt x="0" y="1347343"/>
                    <a:pt x="0" y="1286129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53928" y="7043890"/>
            <a:ext cx="7626515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week_of_year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3928" y="7410145"/>
            <a:ext cx="7626515" cy="26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0.070081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10494" y="6842655"/>
            <a:ext cx="8048158" cy="1047969"/>
            <a:chOff x="0" y="0"/>
            <a:chExt cx="10730878" cy="13972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30865" cy="1397127"/>
            </a:xfrm>
            <a:custGeom>
              <a:avLst/>
              <a:gdLst/>
              <a:ahLst/>
              <a:cxnLst/>
              <a:rect r="r" b="b" t="t" l="l"/>
              <a:pathLst>
                <a:path h="1397127" w="10730865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10619867" y="0"/>
                  </a:lnTo>
                  <a:cubicBezTo>
                    <a:pt x="10681208" y="0"/>
                    <a:pt x="10730865" y="49784"/>
                    <a:pt x="10730865" y="110998"/>
                  </a:cubicBezTo>
                  <a:lnTo>
                    <a:pt x="10730865" y="1286129"/>
                  </a:lnTo>
                  <a:cubicBezTo>
                    <a:pt x="10730865" y="1347470"/>
                    <a:pt x="10681081" y="1397127"/>
                    <a:pt x="10619867" y="1397127"/>
                  </a:cubicBezTo>
                  <a:lnTo>
                    <a:pt x="110998" y="1397127"/>
                  </a:lnTo>
                  <a:cubicBezTo>
                    <a:pt x="49657" y="1397127"/>
                    <a:pt x="0" y="1347343"/>
                    <a:pt x="0" y="1286129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9421244" y="7043890"/>
            <a:ext cx="7626658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month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21244" y="7410145"/>
            <a:ext cx="7626658" cy="26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0.028281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43178" y="8009934"/>
            <a:ext cx="8048015" cy="1047969"/>
            <a:chOff x="0" y="0"/>
            <a:chExt cx="10730687" cy="13972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30611" cy="1397127"/>
            </a:xfrm>
            <a:custGeom>
              <a:avLst/>
              <a:gdLst/>
              <a:ahLst/>
              <a:cxnLst/>
              <a:rect r="r" b="b" t="t" l="l"/>
              <a:pathLst>
                <a:path h="1397127" w="10730611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10619613" y="0"/>
                  </a:lnTo>
                  <a:cubicBezTo>
                    <a:pt x="10680954" y="0"/>
                    <a:pt x="10730611" y="49784"/>
                    <a:pt x="10730611" y="110998"/>
                  </a:cubicBezTo>
                  <a:lnTo>
                    <a:pt x="10730611" y="1286129"/>
                  </a:lnTo>
                  <a:cubicBezTo>
                    <a:pt x="10730611" y="1347470"/>
                    <a:pt x="10680827" y="1397127"/>
                    <a:pt x="10619613" y="1397127"/>
                  </a:cubicBezTo>
                  <a:lnTo>
                    <a:pt x="110998" y="1397127"/>
                  </a:lnTo>
                  <a:cubicBezTo>
                    <a:pt x="49657" y="1397127"/>
                    <a:pt x="0" y="1347343"/>
                    <a:pt x="0" y="1286129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253928" y="8211169"/>
            <a:ext cx="7626515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year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3928" y="8577424"/>
            <a:ext cx="7626515" cy="26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0.011875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10494" y="8009934"/>
            <a:ext cx="8048158" cy="1047969"/>
            <a:chOff x="0" y="0"/>
            <a:chExt cx="10730878" cy="13972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30865" cy="1397127"/>
            </a:xfrm>
            <a:custGeom>
              <a:avLst/>
              <a:gdLst/>
              <a:ahLst/>
              <a:cxnLst/>
              <a:rect r="r" b="b" t="t" l="l"/>
              <a:pathLst>
                <a:path h="1397127" w="10730865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10619867" y="0"/>
                  </a:lnTo>
                  <a:cubicBezTo>
                    <a:pt x="10681208" y="0"/>
                    <a:pt x="10730865" y="49784"/>
                    <a:pt x="10730865" y="110998"/>
                  </a:cubicBezTo>
                  <a:lnTo>
                    <a:pt x="10730865" y="1286129"/>
                  </a:lnTo>
                  <a:cubicBezTo>
                    <a:pt x="10730865" y="1347470"/>
                    <a:pt x="10681081" y="1397127"/>
                    <a:pt x="10619867" y="1397127"/>
                  </a:cubicBezTo>
                  <a:lnTo>
                    <a:pt x="110998" y="1397127"/>
                  </a:lnTo>
                  <a:cubicBezTo>
                    <a:pt x="49657" y="1397127"/>
                    <a:pt x="0" y="1347343"/>
                    <a:pt x="0" y="1286129"/>
                  </a:cubicBezTo>
                  <a:close/>
                </a:path>
              </a:pathLst>
            </a:custGeom>
            <a:solidFill>
              <a:srgbClr val="F0D4F7"/>
            </a:solidFill>
            <a:ln w="9532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9421244" y="8211169"/>
            <a:ext cx="7626658" cy="2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-36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is_weekend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21244" y="8577424"/>
            <a:ext cx="7626658" cy="26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0.005426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7950" y="9188691"/>
            <a:ext cx="17121035" cy="26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501" spc="-31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Note:</a:t>
            </a: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501" spc="-31">
                <a:solidFill>
                  <a:srgbClr val="BE49DF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rolling_7</a:t>
            </a:r>
            <a:r>
              <a:rPr lang="en-US" sz="1501" spc="-3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is the most important feature in the Random Forest model.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840" y="2968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813987"/>
            <a:ext cx="16205949" cy="36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spc="-45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ML Methodology &amp; Models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21935" y="1325461"/>
            <a:ext cx="14457978" cy="7900606"/>
            <a:chOff x="0" y="0"/>
            <a:chExt cx="19277305" cy="1053414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9277330" cy="10534142"/>
            </a:xfrm>
            <a:custGeom>
              <a:avLst/>
              <a:gdLst/>
              <a:ahLst/>
              <a:cxnLst/>
              <a:rect r="r" b="b" t="t" l="l"/>
              <a:pathLst>
                <a:path h="10534142" w="19277330">
                  <a:moveTo>
                    <a:pt x="0" y="0"/>
                  </a:moveTo>
                  <a:lnTo>
                    <a:pt x="19277330" y="0"/>
                  </a:lnTo>
                  <a:lnTo>
                    <a:pt x="19277330" y="10534142"/>
                  </a:lnTo>
                  <a:lnTo>
                    <a:pt x="0" y="1053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828450" y="5031257"/>
            <a:ext cx="3350028" cy="4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702" spc="-54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Data Preparation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7841" y="4979851"/>
            <a:ext cx="3350028" cy="4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702" spc="-54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Model Development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55381" y="4782093"/>
            <a:ext cx="3350028" cy="866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702" spc="-54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Selection &amp; Prediction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047950" y="9310221"/>
            <a:ext cx="374285" cy="374294"/>
          </a:xfrm>
          <a:custGeom>
            <a:avLst/>
            <a:gdLst/>
            <a:ahLst/>
            <a:cxnLst/>
            <a:rect r="r" b="b" t="t" l="l"/>
            <a:pathLst>
              <a:path h="374294" w="374285">
                <a:moveTo>
                  <a:pt x="0" y="0"/>
                </a:moveTo>
                <a:lnTo>
                  <a:pt x="374285" y="0"/>
                </a:lnTo>
                <a:lnTo>
                  <a:pt x="374285" y="374294"/>
                </a:lnTo>
                <a:lnTo>
                  <a:pt x="0" y="3742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252" t="0" r="-625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47950" y="9768535"/>
            <a:ext cx="8149733" cy="21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spc="-27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Linear Regression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950" y="10043027"/>
            <a:ext cx="8056207" cy="17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Baseline linear model for relationship estimation.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197683" y="9310221"/>
            <a:ext cx="374285" cy="374294"/>
          </a:xfrm>
          <a:custGeom>
            <a:avLst/>
            <a:gdLst/>
            <a:ahLst/>
            <a:cxnLst/>
            <a:rect r="r" b="b" t="t" l="l"/>
            <a:pathLst>
              <a:path h="374294" w="374285">
                <a:moveTo>
                  <a:pt x="0" y="0"/>
                </a:moveTo>
                <a:lnTo>
                  <a:pt x="374285" y="0"/>
                </a:lnTo>
                <a:lnTo>
                  <a:pt x="374285" y="374294"/>
                </a:lnTo>
                <a:lnTo>
                  <a:pt x="0" y="3742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97683" y="9768535"/>
            <a:ext cx="8056207" cy="22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spc="-27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Random Forest Regressor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97683" y="10043027"/>
            <a:ext cx="8056207" cy="17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Ensemble of trees to capture non-linearities and interactions.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047950" y="10372344"/>
            <a:ext cx="374285" cy="374294"/>
          </a:xfrm>
          <a:custGeom>
            <a:avLst/>
            <a:gdLst/>
            <a:ahLst/>
            <a:cxnLst/>
            <a:rect r="r" b="b" t="t" l="l"/>
            <a:pathLst>
              <a:path h="374294" w="374285">
                <a:moveTo>
                  <a:pt x="0" y="0"/>
                </a:moveTo>
                <a:lnTo>
                  <a:pt x="374285" y="0"/>
                </a:lnTo>
                <a:lnTo>
                  <a:pt x="374285" y="374294"/>
                </a:lnTo>
                <a:lnTo>
                  <a:pt x="0" y="3742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498" r="0" b="-249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47950" y="10830658"/>
            <a:ext cx="8056207" cy="22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spc="-27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Gradient Boosting Regressor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950" y="11105150"/>
            <a:ext cx="8056207" cy="17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Sequential tree boosting to reduce bias.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197683" y="10372344"/>
            <a:ext cx="374285" cy="374294"/>
          </a:xfrm>
          <a:custGeom>
            <a:avLst/>
            <a:gdLst/>
            <a:ahLst/>
            <a:cxnLst/>
            <a:rect r="r" b="b" t="t" l="l"/>
            <a:pathLst>
              <a:path h="374294" w="374285">
                <a:moveTo>
                  <a:pt x="0" y="0"/>
                </a:moveTo>
                <a:lnTo>
                  <a:pt x="374285" y="0"/>
                </a:lnTo>
                <a:lnTo>
                  <a:pt x="374285" y="374294"/>
                </a:lnTo>
                <a:lnTo>
                  <a:pt x="0" y="3742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47498" r="0" b="-4749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197683" y="10830658"/>
            <a:ext cx="8056207" cy="22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spc="-27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Artificial Neural Network (ANN)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97683" y="11105150"/>
            <a:ext cx="8056207" cy="17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Feed-forward network; inputs scaled with StandardScaler.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221145" y="6505195"/>
            <a:ext cx="6645905" cy="3581779"/>
          </a:xfrm>
          <a:custGeom>
            <a:avLst/>
            <a:gdLst/>
            <a:ahLst/>
            <a:cxnLst/>
            <a:rect r="r" b="b" t="t" l="l"/>
            <a:pathLst>
              <a:path h="3581779" w="6645905">
                <a:moveTo>
                  <a:pt x="0" y="0"/>
                </a:moveTo>
                <a:lnTo>
                  <a:pt x="6645905" y="0"/>
                </a:lnTo>
                <a:lnTo>
                  <a:pt x="6645905" y="3581779"/>
                </a:lnTo>
                <a:lnTo>
                  <a:pt x="0" y="3581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2" t="0" r="-5047" b="-68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4313" y="1996981"/>
            <a:ext cx="7908971" cy="4342522"/>
          </a:xfrm>
          <a:custGeom>
            <a:avLst/>
            <a:gdLst/>
            <a:ahLst/>
            <a:cxnLst/>
            <a:rect r="r" b="b" t="t" l="l"/>
            <a:pathLst>
              <a:path h="4342522" w="7908971">
                <a:moveTo>
                  <a:pt x="0" y="0"/>
                </a:moveTo>
                <a:lnTo>
                  <a:pt x="7908971" y="0"/>
                </a:lnTo>
                <a:lnTo>
                  <a:pt x="7908971" y="4342522"/>
                </a:lnTo>
                <a:lnTo>
                  <a:pt x="0" y="4342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84179" y="1246412"/>
            <a:ext cx="9559895" cy="5188445"/>
          </a:xfrm>
          <a:custGeom>
            <a:avLst/>
            <a:gdLst/>
            <a:ahLst/>
            <a:cxnLst/>
            <a:rect r="r" b="b" t="t" l="l"/>
            <a:pathLst>
              <a:path h="5188445" w="9559895">
                <a:moveTo>
                  <a:pt x="0" y="0"/>
                </a:moveTo>
                <a:lnTo>
                  <a:pt x="9559895" y="0"/>
                </a:lnTo>
                <a:lnTo>
                  <a:pt x="9559895" y="5188444"/>
                </a:lnTo>
                <a:lnTo>
                  <a:pt x="0" y="5188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7950" y="813987"/>
            <a:ext cx="16205949" cy="36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spc="-45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Model Evaluation &amp; Comparison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950" y="1325461"/>
            <a:ext cx="539859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625" spc="-3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Metrics on test set — lower MAE/RMSE is better; higher R² is better.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950" y="10814123"/>
            <a:ext cx="7920371" cy="22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spc="-2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Key observations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950" y="11158452"/>
            <a:ext cx="7920371" cy="55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b="true" sz="1125" spc="-24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MAE:</a:t>
            </a: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ANN lowest (22.254582).</a:t>
            </a:r>
          </a:p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b="true" sz="1125" spc="-24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RMSE:</a:t>
            </a: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Linear Regression lowest (28.747222).</a:t>
            </a:r>
          </a:p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b="true" sz="1125" spc="-24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R²:</a:t>
            </a: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Linear Regression highest (-0.049421) — note negative values indicate low explanatory power vs baseline.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43053" y="10816199"/>
            <a:ext cx="8835466" cy="17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 spc="-24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Interpretation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43053" y="11103045"/>
            <a:ext cx="7920371" cy="34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models show limited explanatory power on the test set (negative R²).</a:t>
            </a:r>
          </a:p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ANN minimizes absolute error; Linear Regression minimizes squared error and yields best R².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926297"/>
            <a:ext cx="16205949" cy="569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452" spc="-6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Feature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950" y="1823256"/>
            <a:ext cx="17121035" cy="37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Retained temporal and engineered features used for modeling: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950" y="2424474"/>
            <a:ext cx="16205949" cy="150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lag_1, lag_7 — previous demand values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rolling_7 — 7-day moving average of demand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day_of_week, week_of_year, month, year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is_weekend — binary weekend indicator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7950" y="4130831"/>
            <a:ext cx="1757505" cy="1086107"/>
            <a:chOff x="0" y="0"/>
            <a:chExt cx="2343340" cy="144814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343277" cy="1448181"/>
            </a:xfrm>
            <a:custGeom>
              <a:avLst/>
              <a:gdLst/>
              <a:ahLst/>
              <a:cxnLst/>
              <a:rect r="r" b="b" t="t" l="l"/>
              <a:pathLst>
                <a:path h="1448181" w="2343277">
                  <a:moveTo>
                    <a:pt x="0" y="0"/>
                  </a:moveTo>
                  <a:lnTo>
                    <a:pt x="2343277" y="0"/>
                  </a:lnTo>
                  <a:lnTo>
                    <a:pt x="2343277" y="1448181"/>
                  </a:lnTo>
                  <a:lnTo>
                    <a:pt x="0" y="1448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3" t="0" r="-145" b="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033770" y="4121306"/>
            <a:ext cx="6002912" cy="35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spc="-43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Engineering Rationale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33770" y="4546416"/>
            <a:ext cx="6002912" cy="103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Lag and rolling statistics capture short-term autocorrelation and weekly seasonality typical in hotel bookings. Categorical temporal features capture periodic effects.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65006" y="4130831"/>
            <a:ext cx="1757505" cy="1086107"/>
            <a:chOff x="0" y="0"/>
            <a:chExt cx="2343340" cy="144814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343277" cy="1448181"/>
            </a:xfrm>
            <a:custGeom>
              <a:avLst/>
              <a:gdLst/>
              <a:ahLst/>
              <a:cxnLst/>
              <a:rect r="r" b="b" t="t" l="l"/>
              <a:pathLst>
                <a:path h="1448181" w="2343277">
                  <a:moveTo>
                    <a:pt x="0" y="0"/>
                  </a:moveTo>
                  <a:lnTo>
                    <a:pt x="2343277" y="0"/>
                  </a:lnTo>
                  <a:lnTo>
                    <a:pt x="2343277" y="1448181"/>
                  </a:lnTo>
                  <a:lnTo>
                    <a:pt x="0" y="1448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3" t="0" r="-145" b="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250835" y="4121306"/>
            <a:ext cx="6003055" cy="35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spc="-43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Random Forest Feature Importance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50835" y="4546416"/>
            <a:ext cx="6003055" cy="37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Exact importance values (Random Forest):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50835" y="5051708"/>
            <a:ext cx="6003055" cy="308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rolling_7 = 0.504157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lag_7 = 0.166339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lag_1 = 0.134810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day_of_week = 0.079032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week_of_year = 0.070081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month = 0.028281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year = 0.011875</a:t>
            </a:r>
          </a:p>
          <a:p>
            <a:pPr algn="l" marL="326264" indent="-163132" lvl="1">
              <a:lnSpc>
                <a:spcPts val="2572"/>
              </a:lnSpc>
              <a:buFont typeface="Arial"/>
              <a:buChar char="•"/>
            </a:pPr>
            <a:r>
              <a:rPr lang="en-US" sz="1801" spc="-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is_weekend = 0.005426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50835" y="8346996"/>
            <a:ext cx="6003055" cy="1002697"/>
            <a:chOff x="0" y="0"/>
            <a:chExt cx="8004073" cy="1336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04175" cy="1336929"/>
            </a:xfrm>
            <a:custGeom>
              <a:avLst/>
              <a:gdLst/>
              <a:ahLst/>
              <a:cxnLst/>
              <a:rect r="r" b="b" t="t" l="l"/>
              <a:pathLst>
                <a:path h="1336929" w="8004175">
                  <a:moveTo>
                    <a:pt x="0" y="131064"/>
                  </a:moveTo>
                  <a:cubicBezTo>
                    <a:pt x="0" y="58674"/>
                    <a:pt x="58674" y="0"/>
                    <a:pt x="131064" y="0"/>
                  </a:cubicBezTo>
                  <a:lnTo>
                    <a:pt x="7873111" y="0"/>
                  </a:lnTo>
                  <a:cubicBezTo>
                    <a:pt x="7945501" y="0"/>
                    <a:pt x="8004175" y="58674"/>
                    <a:pt x="8004175" y="131064"/>
                  </a:cubicBezTo>
                  <a:lnTo>
                    <a:pt x="8004175" y="1205865"/>
                  </a:lnTo>
                  <a:cubicBezTo>
                    <a:pt x="8004175" y="1278255"/>
                    <a:pt x="7945501" y="1336929"/>
                    <a:pt x="7873111" y="1336929"/>
                  </a:cubicBezTo>
                  <a:lnTo>
                    <a:pt x="131064" y="1336929"/>
                  </a:lnTo>
                  <a:cubicBezTo>
                    <a:pt x="58674" y="1336929"/>
                    <a:pt x="0" y="1278255"/>
                    <a:pt x="0" y="1205865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84674" y="8612267"/>
            <a:ext cx="292370" cy="233839"/>
            <a:chOff x="0" y="0"/>
            <a:chExt cx="389826" cy="31178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389890" cy="311785"/>
            </a:xfrm>
            <a:custGeom>
              <a:avLst/>
              <a:gdLst/>
              <a:ahLst/>
              <a:cxnLst/>
              <a:rect r="r" b="b" t="t" l="l"/>
              <a:pathLst>
                <a:path h="311785" w="389890">
                  <a:moveTo>
                    <a:pt x="0" y="0"/>
                  </a:moveTo>
                  <a:lnTo>
                    <a:pt x="389890" y="0"/>
                  </a:lnTo>
                  <a:lnTo>
                    <a:pt x="389890" y="311785"/>
                  </a:lnTo>
                  <a:lnTo>
                    <a:pt x="0" y="311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15" r="16" b="-41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747773" y="8553526"/>
            <a:ext cx="5009178" cy="70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01" spc="-3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rolling_7 was the most important feature in the Random Forest model.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813987"/>
            <a:ext cx="16205949" cy="36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spc="-45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Model Evaluation &amp;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950" y="1325461"/>
            <a:ext cx="17121035" cy="17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Comparison uses the exact test-set metrics from the project.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47948" y="1589238"/>
          <a:ext cx="16186095" cy="1429867"/>
        </p:xfrm>
        <a:graphic>
          <a:graphicData uri="http://schemas.openxmlformats.org/drawingml/2006/table">
            <a:tbl>
              <a:tblPr/>
              <a:tblGrid>
                <a:gridCol w="4855829"/>
                <a:gridCol w="3722802"/>
                <a:gridCol w="3722802"/>
                <a:gridCol w="3884664"/>
              </a:tblGrid>
              <a:tr h="285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b="true" sz="1200" spc="-24">
                          <a:solidFill>
                            <a:srgbClr val="272525"/>
                          </a:solidFill>
                          <a:latin typeface="Source Sans 3 Bold"/>
                          <a:ea typeface="Source Sans 3 Bold"/>
                          <a:cs typeface="Source Sans 3 Bold"/>
                          <a:sym typeface="Source Sans 3 Bold"/>
                        </a:rPr>
                        <a:t>Model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b="true" sz="1200" spc="-24">
                          <a:solidFill>
                            <a:srgbClr val="272525"/>
                          </a:solidFill>
                          <a:latin typeface="Source Sans 3 Bold"/>
                          <a:ea typeface="Source Sans 3 Bold"/>
                          <a:cs typeface="Source Sans 3 Bold"/>
                          <a:sym typeface="Source Sans 3 Bold"/>
                        </a:rPr>
                        <a:t>MAE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b="true" sz="1200" spc="-24">
                          <a:solidFill>
                            <a:srgbClr val="272525"/>
                          </a:solidFill>
                          <a:latin typeface="Source Sans 3 Bold"/>
                          <a:ea typeface="Source Sans 3 Bold"/>
                          <a:cs typeface="Source Sans 3 Bold"/>
                          <a:sym typeface="Source Sans 3 Bold"/>
                        </a:rPr>
                        <a:t>RMSE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b="true" sz="1200" spc="-24">
                          <a:solidFill>
                            <a:srgbClr val="272525"/>
                          </a:solidFill>
                          <a:latin typeface="Source Sans 3 Bold"/>
                          <a:ea typeface="Source Sans 3 Bold"/>
                          <a:cs typeface="Source Sans 3 Bold"/>
                          <a:sym typeface="Source Sans 3 Bold"/>
                        </a:rPr>
                        <a:t>R²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Linear Regression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22.432493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28.747222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-0.049421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Random Forest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22.797975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30.523246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-0.183094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Gradient Boosting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38.659776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45.759936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-1.659063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ANN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22.254582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29.156207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spc="-24">
                          <a:solidFill>
                            <a:srgbClr val="27252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-0.079493</a:t>
                      </a:r>
                      <a:endParaRPr lang="en-US" sz="1100"/>
                    </a:p>
                  </a:txBody>
                  <a:tcPr marL="99739" marR="99739" marT="99739" marB="99739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047950" y="3218393"/>
            <a:ext cx="7920371" cy="5701151"/>
            <a:chOff x="0" y="0"/>
            <a:chExt cx="10560494" cy="760153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560558" cy="7601585"/>
            </a:xfrm>
            <a:custGeom>
              <a:avLst/>
              <a:gdLst/>
              <a:ahLst/>
              <a:cxnLst/>
              <a:rect r="r" b="b" t="t" l="l"/>
              <a:pathLst>
                <a:path h="7601585" w="10560558">
                  <a:moveTo>
                    <a:pt x="0" y="0"/>
                  </a:moveTo>
                  <a:lnTo>
                    <a:pt x="10560558" y="0"/>
                  </a:lnTo>
                  <a:lnTo>
                    <a:pt x="10560558" y="7601585"/>
                  </a:lnTo>
                  <a:lnTo>
                    <a:pt x="0" y="7601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" r="0" b="-6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43053" y="3218393"/>
            <a:ext cx="7920371" cy="5701151"/>
            <a:chOff x="0" y="0"/>
            <a:chExt cx="10560494" cy="760153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560558" cy="7601585"/>
            </a:xfrm>
            <a:custGeom>
              <a:avLst/>
              <a:gdLst/>
              <a:ahLst/>
              <a:cxnLst/>
              <a:rect r="r" b="b" t="t" l="l"/>
              <a:pathLst>
                <a:path h="7601585" w="10560558">
                  <a:moveTo>
                    <a:pt x="0" y="0"/>
                  </a:moveTo>
                  <a:lnTo>
                    <a:pt x="10560558" y="0"/>
                  </a:lnTo>
                  <a:lnTo>
                    <a:pt x="10560558" y="7601585"/>
                  </a:lnTo>
                  <a:lnTo>
                    <a:pt x="0" y="7601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" r="0" b="-6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47950" y="18247490"/>
            <a:ext cx="16205949" cy="2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-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Interpretation: Lower MAE/RMSE indicate better predictive accuracy; higher R² indicates better explanatory power. ANN achieved the lowest MAE. Linear Regression produced the lowest RMSE and the highest (least negative) R². All models show negative R² on the test set, indicating performance worse than the baseline mean predictor on held-out data.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2023" y="373310"/>
            <a:ext cx="16205949" cy="9075487"/>
            <a:chOff x="0" y="0"/>
            <a:chExt cx="21607932" cy="1210064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1607907" cy="12100687"/>
            </a:xfrm>
            <a:custGeom>
              <a:avLst/>
              <a:gdLst/>
              <a:ahLst/>
              <a:cxnLst/>
              <a:rect r="r" b="b" t="t" l="l"/>
              <a:pathLst>
                <a:path h="12100687" w="21607907">
                  <a:moveTo>
                    <a:pt x="0" y="0"/>
                  </a:moveTo>
                  <a:lnTo>
                    <a:pt x="21607907" y="0"/>
                  </a:lnTo>
                  <a:lnTo>
                    <a:pt x="21607907" y="12100687"/>
                  </a:lnTo>
                  <a:lnTo>
                    <a:pt x="0" y="12100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952957"/>
            <a:ext cx="16205949" cy="58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 spc="-72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Prediction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950" y="1882550"/>
            <a:ext cx="17121035" cy="40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1876" spc="-39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Example single-point prediction performed in the notebook using the final Linear Regression model on manually provided unseen input.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950" y="2727770"/>
            <a:ext cx="10326062" cy="5851579"/>
            <a:chOff x="0" y="0"/>
            <a:chExt cx="13768083" cy="78021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768070" cy="7802118"/>
            </a:xfrm>
            <a:custGeom>
              <a:avLst/>
              <a:gdLst/>
              <a:ahLst/>
              <a:cxnLst/>
              <a:rect r="r" b="b" t="t" l="l"/>
              <a:pathLst>
                <a:path h="7802118" w="13768070">
                  <a:moveTo>
                    <a:pt x="0" y="0"/>
                  </a:moveTo>
                  <a:lnTo>
                    <a:pt x="13768070" y="0"/>
                  </a:lnTo>
                  <a:lnTo>
                    <a:pt x="13768070" y="7802118"/>
                  </a:lnTo>
                  <a:lnTo>
                    <a:pt x="0" y="780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" t="0" r="-2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976926" y="3003175"/>
            <a:ext cx="5286356" cy="36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spc="-45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Final Prediction (Linear Regression)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76926" y="3539538"/>
            <a:ext cx="5286356" cy="397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6154" spc="-124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Predicted Hotel Demand = 124.7425 ≈ 124.74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76926" y="7687199"/>
            <a:ext cx="5286356" cy="115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01" spc="-39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prediction was generated by the final Linear Regression model on a manually supplied unseen feature vector (details available in the notebook). Use the notebook screenshot as proof of the exact inference step.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895769"/>
            <a:ext cx="16205949" cy="71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353" spc="-87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Results, Conclusion &amp; Limitations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881" y="2169528"/>
            <a:ext cx="5246589" cy="7229618"/>
            <a:chOff x="0" y="0"/>
            <a:chExt cx="6995452" cy="96394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95414" cy="9639427"/>
            </a:xfrm>
            <a:custGeom>
              <a:avLst/>
              <a:gdLst/>
              <a:ahLst/>
              <a:cxnLst/>
              <a:rect r="r" b="b" t="t" l="l"/>
              <a:pathLst>
                <a:path h="9639427" w="6995414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6829171" y="0"/>
                  </a:lnTo>
                  <a:cubicBezTo>
                    <a:pt x="6920992" y="0"/>
                    <a:pt x="6995414" y="74422"/>
                    <a:pt x="6995414" y="166243"/>
                  </a:cubicBezTo>
                  <a:lnTo>
                    <a:pt x="6995414" y="9473184"/>
                  </a:lnTo>
                  <a:cubicBezTo>
                    <a:pt x="6995414" y="9565005"/>
                    <a:pt x="6920992" y="9639427"/>
                    <a:pt x="6829171" y="9639427"/>
                  </a:cubicBezTo>
                  <a:lnTo>
                    <a:pt x="166243" y="9639427"/>
                  </a:lnTo>
                  <a:cubicBezTo>
                    <a:pt x="74422" y="9639427"/>
                    <a:pt x="0" y="9565005"/>
                    <a:pt x="0" y="947318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38128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80830" y="2511952"/>
            <a:ext cx="4542692" cy="44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4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0830" y="3052677"/>
            <a:ext cx="4542692" cy="381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2251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- ANN achieved the lowest MAE: 22.2546.</a:t>
            </a:r>
          </a:p>
          <a:p>
            <a:pPr algn="l">
              <a:lnSpc>
                <a:spcPts val="3566"/>
              </a:lnSpc>
            </a:pPr>
            <a:r>
              <a:rPr lang="en-US" sz="2251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- Linear Regression achieved the lowest RMSE: 28.7472.</a:t>
            </a:r>
          </a:p>
          <a:p>
            <a:pPr algn="l">
              <a:lnSpc>
                <a:spcPts val="3566"/>
              </a:lnSpc>
            </a:pPr>
            <a:r>
              <a:rPr lang="en-US" sz="2251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- Linear Regression achieved the highest R²: -0.0494.</a:t>
            </a:r>
          </a:p>
          <a:p>
            <a:pPr algn="l">
              <a:lnSpc>
                <a:spcPts val="3566"/>
              </a:lnSpc>
            </a:pPr>
            <a:r>
              <a:rPr lang="en-US" sz="2251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- Gradient Boosting showed the weakest performance.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27482" y="2169528"/>
            <a:ext cx="5246732" cy="7229618"/>
            <a:chOff x="0" y="0"/>
            <a:chExt cx="6995643" cy="96394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5541" cy="9639427"/>
            </a:xfrm>
            <a:custGeom>
              <a:avLst/>
              <a:gdLst/>
              <a:ahLst/>
              <a:cxnLst/>
              <a:rect r="r" b="b" t="t" l="l"/>
              <a:pathLst>
                <a:path h="9639427" w="6995541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6829298" y="0"/>
                  </a:lnTo>
                  <a:cubicBezTo>
                    <a:pt x="6921119" y="0"/>
                    <a:pt x="6995541" y="74422"/>
                    <a:pt x="6995541" y="166243"/>
                  </a:cubicBezTo>
                  <a:lnTo>
                    <a:pt x="6995541" y="9473184"/>
                  </a:lnTo>
                  <a:cubicBezTo>
                    <a:pt x="6995541" y="9565005"/>
                    <a:pt x="6921119" y="9639427"/>
                    <a:pt x="6829298" y="9639427"/>
                  </a:cubicBezTo>
                  <a:lnTo>
                    <a:pt x="166243" y="9639427"/>
                  </a:lnTo>
                  <a:cubicBezTo>
                    <a:pt x="74422" y="9639427"/>
                    <a:pt x="0" y="9565005"/>
                    <a:pt x="0" y="947318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38128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879422" y="2511952"/>
            <a:ext cx="4542844" cy="44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4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Final Model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9422" y="3052677"/>
            <a:ext cx="4542844" cy="194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2251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Linear Regression selected as the overall final model due to best RMSE and highest R² among evaluated models on the test set.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26217" y="2169528"/>
            <a:ext cx="5246732" cy="7229618"/>
            <a:chOff x="0" y="0"/>
            <a:chExt cx="6995643" cy="96394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5541" cy="9639427"/>
            </a:xfrm>
            <a:custGeom>
              <a:avLst/>
              <a:gdLst/>
              <a:ahLst/>
              <a:cxnLst/>
              <a:rect r="r" b="b" t="t" l="l"/>
              <a:pathLst>
                <a:path h="9639427" w="6995541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6829298" y="0"/>
                  </a:lnTo>
                  <a:cubicBezTo>
                    <a:pt x="6921119" y="0"/>
                    <a:pt x="6995541" y="74422"/>
                    <a:pt x="6995541" y="166243"/>
                  </a:cubicBezTo>
                  <a:lnTo>
                    <a:pt x="6995541" y="9473184"/>
                  </a:lnTo>
                  <a:cubicBezTo>
                    <a:pt x="6995541" y="9565005"/>
                    <a:pt x="6921119" y="9639427"/>
                    <a:pt x="6829298" y="9639427"/>
                  </a:cubicBezTo>
                  <a:lnTo>
                    <a:pt x="166243" y="9639427"/>
                  </a:lnTo>
                  <a:cubicBezTo>
                    <a:pt x="74422" y="9639427"/>
                    <a:pt x="0" y="9565005"/>
                    <a:pt x="0" y="947318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38128" cap="sq">
              <a:solidFill>
                <a:srgbClr val="D6BAD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78166" y="2511952"/>
            <a:ext cx="4542844" cy="44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spc="-54">
                <a:solidFill>
                  <a:srgbClr val="27252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Limitations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78166" y="3131220"/>
            <a:ext cx="4542844" cy="5915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3566"/>
              </a:lnSpc>
              <a:buFont typeface="Arial"/>
              <a:buChar char="•"/>
            </a:pPr>
            <a:r>
              <a:rPr lang="en-US" sz="2251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models produced negative R² values on the test set — limited explanatory power vs baseline.</a:t>
            </a:r>
          </a:p>
          <a:p>
            <a:pPr algn="l" marL="407830" indent="-203915" lvl="1">
              <a:lnSpc>
                <a:spcPts val="3566"/>
              </a:lnSpc>
              <a:buFont typeface="Arial"/>
              <a:buChar char="•"/>
            </a:pPr>
            <a:r>
              <a:rPr lang="en-US" sz="2251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Important external drivers (events, weather, promotions) were not included.</a:t>
            </a:r>
          </a:p>
          <a:p>
            <a:pPr algn="l" marL="407830" indent="-203915" lvl="1">
              <a:lnSpc>
                <a:spcPts val="3566"/>
              </a:lnSpc>
              <a:buFont typeface="Arial"/>
              <a:buChar char="•"/>
            </a:pPr>
            <a:r>
              <a:rPr lang="en-US" sz="2251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Temporal non-stationarity and data sparsity can reduce generalisation.</a:t>
            </a:r>
          </a:p>
          <a:p>
            <a:pPr algn="l" marL="407830" indent="-203915" lvl="1">
              <a:lnSpc>
                <a:spcPts val="3566"/>
              </a:lnSpc>
              <a:buFont typeface="Arial"/>
              <a:buChar char="•"/>
            </a:pPr>
            <a:r>
              <a:rPr lang="en-US" sz="2251" spc="-46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Further data collection and modelling refinements are needed.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60606" y="4173226"/>
            <a:ext cx="9521665" cy="139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0"/>
              </a:lnSpc>
              <a:spcBef>
                <a:spcPct val="0"/>
              </a:spcBef>
            </a:pPr>
            <a:r>
              <a:rPr lang="en-US" sz="2972" spc="-5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GitHub Repository: https://github.com/suraj116k-code/IBM-Hotel-booking-demand-prediction-project.git</a:t>
            </a:r>
          </a:p>
          <a:p>
            <a:pPr algn="ctr">
              <a:lnSpc>
                <a:spcPts val="3710"/>
              </a:lnSpc>
              <a:spcBef>
                <a:spcPct val="0"/>
              </a:spcBef>
            </a:pPr>
            <a:r>
              <a:rPr lang="en-US" sz="2972" spc="-5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DAHT3ufXBuQ</dc:identifier>
  <dcterms:modified xsi:type="dcterms:W3CDTF">2011-08-01T06:04:30Z</dcterms:modified>
  <cp:revision>1</cp:revision>
  <dc:title>Hotel-Booking-Demand-Prediction.pptx</dc:title>
</cp:coreProperties>
</file>