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0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Source Serif Pro" charset="1" panose="02040603050405020204"/>
      <p:regular r:id="rId23"/>
    </p:embeddedFont>
    <p:embeddedFont>
      <p:font typeface="Source Sans 3" charset="1" panose="020B0303030403020204"/>
      <p:regular r:id="rId24"/>
    </p:embeddedFont>
    <p:embeddedFont>
      <p:font typeface="Source Sans 3 Bold" charset="1" panose="020B0303030403020204"/>
      <p:regular r:id="rId28"/>
    </p:embeddedFont>
    <p:embeddedFont>
      <p:font typeface="Source Serif Pro Bold" charset="1" panose="020408030504050202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notesMasters/notesMaster1.xml" Type="http://schemas.openxmlformats.org/officeDocument/2006/relationships/notesMaster"/><Relationship Id="rId21" Target="theme/theme2.xml" Type="http://schemas.openxmlformats.org/officeDocument/2006/relationships/theme"/><Relationship Id="rId22" Target="notesSlides/notesSlide1.xml" Type="http://schemas.openxmlformats.org/officeDocument/2006/relationships/notes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notesSlides/notesSlide2.xml" Type="http://schemas.openxmlformats.org/officeDocument/2006/relationships/notesSlide"/><Relationship Id="rId26" Target="notesSlides/notesSlide3.xml" Type="http://schemas.openxmlformats.org/officeDocument/2006/relationships/notesSlide"/><Relationship Id="rId27" Target="notesSlides/notesSlide4.xml" Type="http://schemas.openxmlformats.org/officeDocument/2006/relationships/notesSlide"/><Relationship Id="rId28" Target="fonts/font28.fntdata" Type="http://schemas.openxmlformats.org/officeDocument/2006/relationships/font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5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svg" Type="http://schemas.openxmlformats.org/officeDocument/2006/relationships/image"/><Relationship Id="rId11" Target="../media/image17.png" Type="http://schemas.openxmlformats.org/officeDocument/2006/relationships/image"/><Relationship Id="rId12" Target="../media/image18.sv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19.png" Type="http://schemas.openxmlformats.org/officeDocument/2006/relationships/image"/><Relationship Id="rId5" Target="../media/image20.png" Type="http://schemas.openxmlformats.org/officeDocument/2006/relationships/image"/><Relationship Id="rId6" Target="../media/image2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305940" y="-4020"/>
            <a:ext cx="6863191" cy="10295039"/>
            <a:chOff x="0" y="0"/>
            <a:chExt cx="9150922" cy="1372671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50858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15085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47950" y="2448068"/>
            <a:ext cx="9342758" cy="1780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8"/>
              </a:lnSpc>
            </a:pPr>
            <a:r>
              <a:rPr lang="en-US" sz="5479" spc="-111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Hotel Booking Demand Prediction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950" y="4329236"/>
            <a:ext cx="4080275" cy="408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3"/>
              </a:lnSpc>
            </a:pPr>
            <a:r>
              <a:rPr lang="en-US" sz="2614" spc="-53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IBM AI-Project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41514" y="5151468"/>
            <a:ext cx="9342758" cy="1845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Student Name: SURAJ KUMAR</a:t>
            </a:r>
          </a:p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Enrollment No:A35404825103</a:t>
            </a:r>
          </a:p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Course : BCA</a:t>
            </a:r>
          </a:p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Institution: AMITY UNIVERSITY JHARKHAND RANCHI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424809" y="0"/>
            <a:ext cx="6863191" cy="10295039"/>
            <a:chOff x="0" y="0"/>
            <a:chExt cx="9150922" cy="1372671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50858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15085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47950" y="2300021"/>
            <a:ext cx="9342758" cy="733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spc="-88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Problem Statement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950" y="3466862"/>
            <a:ext cx="9342758" cy="3683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Hotels require reliable daily demand estimates for staffing, inventory, and pricing.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Daily booking demand exhibits temporal variation (weekly, seasonal, yearly).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Historical booking patterns can inform predictive models.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project applies machine-learning regression to predict daily hotel demand.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90398" y="7392038"/>
            <a:ext cx="10257844" cy="57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3"/>
              </a:lnSpc>
            </a:pPr>
            <a:r>
              <a:rPr lang="en-US" sz="2326" spc="-46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Historical Booking Data → Machine Learning → Demand Prediction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7950" y="2121437"/>
            <a:ext cx="16205949" cy="733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spc="-88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Project Objective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3178" y="3448812"/>
            <a:ext cx="5211880" cy="2205571"/>
            <a:chOff x="0" y="0"/>
            <a:chExt cx="6949173" cy="294076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949186" cy="2940685"/>
            </a:xfrm>
            <a:custGeom>
              <a:avLst/>
              <a:gdLst/>
              <a:ahLst/>
              <a:cxnLst/>
              <a:rect r="r" b="b" t="t" l="l"/>
              <a:pathLst>
                <a:path h="2940685" w="6949186">
                  <a:moveTo>
                    <a:pt x="0" y="168402"/>
                  </a:moveTo>
                  <a:cubicBezTo>
                    <a:pt x="0" y="75438"/>
                    <a:pt x="75438" y="0"/>
                    <a:pt x="168402" y="0"/>
                  </a:cubicBezTo>
                  <a:lnTo>
                    <a:pt x="6780784" y="0"/>
                  </a:lnTo>
                  <a:cubicBezTo>
                    <a:pt x="6873748" y="0"/>
                    <a:pt x="6949186" y="75438"/>
                    <a:pt x="6949186" y="168402"/>
                  </a:cubicBezTo>
                  <a:lnTo>
                    <a:pt x="6949186" y="2772283"/>
                  </a:lnTo>
                  <a:cubicBezTo>
                    <a:pt x="6949186" y="2865247"/>
                    <a:pt x="6873748" y="2940685"/>
                    <a:pt x="6780784" y="2940685"/>
                  </a:cubicBezTo>
                  <a:lnTo>
                    <a:pt x="168402" y="2940685"/>
                  </a:lnTo>
                  <a:cubicBezTo>
                    <a:pt x="75438" y="2940812"/>
                    <a:pt x="0" y="2865374"/>
                    <a:pt x="0" y="2772283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356846" y="3752964"/>
            <a:ext cx="4584544" cy="44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Primary Goal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56846" y="4287145"/>
            <a:ext cx="4584544" cy="105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Predict daily hotel booking demand from historical records.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544904" y="3448812"/>
            <a:ext cx="5211880" cy="2205571"/>
            <a:chOff x="0" y="0"/>
            <a:chExt cx="6949173" cy="294076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949186" cy="2940685"/>
            </a:xfrm>
            <a:custGeom>
              <a:avLst/>
              <a:gdLst/>
              <a:ahLst/>
              <a:cxnLst/>
              <a:rect r="r" b="b" t="t" l="l"/>
              <a:pathLst>
                <a:path h="2940685" w="6949186">
                  <a:moveTo>
                    <a:pt x="0" y="168402"/>
                  </a:moveTo>
                  <a:cubicBezTo>
                    <a:pt x="0" y="75438"/>
                    <a:pt x="75438" y="0"/>
                    <a:pt x="168402" y="0"/>
                  </a:cubicBezTo>
                  <a:lnTo>
                    <a:pt x="6780784" y="0"/>
                  </a:lnTo>
                  <a:cubicBezTo>
                    <a:pt x="6873748" y="0"/>
                    <a:pt x="6949186" y="75438"/>
                    <a:pt x="6949186" y="168402"/>
                  </a:cubicBezTo>
                  <a:lnTo>
                    <a:pt x="6949186" y="2772283"/>
                  </a:lnTo>
                  <a:cubicBezTo>
                    <a:pt x="6949186" y="2865247"/>
                    <a:pt x="6873748" y="2940685"/>
                    <a:pt x="6780784" y="2940685"/>
                  </a:cubicBezTo>
                  <a:lnTo>
                    <a:pt x="168402" y="2940685"/>
                  </a:lnTo>
                  <a:cubicBezTo>
                    <a:pt x="75438" y="2940812"/>
                    <a:pt x="0" y="2865374"/>
                    <a:pt x="0" y="2772283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858571" y="3752964"/>
            <a:ext cx="4584544" cy="44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Analysis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58571" y="4287145"/>
            <a:ext cx="4584544" cy="105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temporal patterns and feature relationships.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046629" y="3448812"/>
            <a:ext cx="5212032" cy="2205571"/>
            <a:chOff x="0" y="0"/>
            <a:chExt cx="6949377" cy="294076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949313" cy="2940685"/>
            </a:xfrm>
            <a:custGeom>
              <a:avLst/>
              <a:gdLst/>
              <a:ahLst/>
              <a:cxnLst/>
              <a:rect r="r" b="b" t="t" l="l"/>
              <a:pathLst>
                <a:path h="2940685" w="6949313">
                  <a:moveTo>
                    <a:pt x="0" y="168402"/>
                  </a:moveTo>
                  <a:cubicBezTo>
                    <a:pt x="0" y="75438"/>
                    <a:pt x="75438" y="0"/>
                    <a:pt x="168402" y="0"/>
                  </a:cubicBezTo>
                  <a:lnTo>
                    <a:pt x="6780911" y="0"/>
                  </a:lnTo>
                  <a:cubicBezTo>
                    <a:pt x="6873875" y="0"/>
                    <a:pt x="6949313" y="75438"/>
                    <a:pt x="6949313" y="168402"/>
                  </a:cubicBezTo>
                  <a:lnTo>
                    <a:pt x="6949313" y="2772283"/>
                  </a:lnTo>
                  <a:cubicBezTo>
                    <a:pt x="6949313" y="2865247"/>
                    <a:pt x="6873875" y="2940685"/>
                    <a:pt x="6780911" y="2940685"/>
                  </a:cubicBezTo>
                  <a:lnTo>
                    <a:pt x="168402" y="2940685"/>
                  </a:lnTo>
                  <a:cubicBezTo>
                    <a:pt x="75438" y="2940812"/>
                    <a:pt x="0" y="2865374"/>
                    <a:pt x="0" y="2772283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60297" y="3752964"/>
            <a:ext cx="4584697" cy="44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Feature Work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60297" y="4287145"/>
            <a:ext cx="4584697" cy="105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Create calendar, lag, and rolling features.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43178" y="5944229"/>
            <a:ext cx="7962824" cy="2205571"/>
            <a:chOff x="0" y="0"/>
            <a:chExt cx="10617098" cy="294076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617073" cy="2940685"/>
            </a:xfrm>
            <a:custGeom>
              <a:avLst/>
              <a:gdLst/>
              <a:ahLst/>
              <a:cxnLst/>
              <a:rect r="r" b="b" t="t" l="l"/>
              <a:pathLst>
                <a:path h="2940685" w="10617073">
                  <a:moveTo>
                    <a:pt x="0" y="168402"/>
                  </a:moveTo>
                  <a:cubicBezTo>
                    <a:pt x="0" y="75438"/>
                    <a:pt x="75438" y="0"/>
                    <a:pt x="168402" y="0"/>
                  </a:cubicBezTo>
                  <a:lnTo>
                    <a:pt x="10448671" y="0"/>
                  </a:lnTo>
                  <a:cubicBezTo>
                    <a:pt x="10541635" y="0"/>
                    <a:pt x="10617073" y="75438"/>
                    <a:pt x="10617073" y="168402"/>
                  </a:cubicBezTo>
                  <a:lnTo>
                    <a:pt x="10617073" y="2772283"/>
                  </a:lnTo>
                  <a:cubicBezTo>
                    <a:pt x="10617073" y="2865247"/>
                    <a:pt x="10541635" y="2940685"/>
                    <a:pt x="10448671" y="2940685"/>
                  </a:cubicBezTo>
                  <a:lnTo>
                    <a:pt x="168402" y="2940685"/>
                  </a:lnTo>
                  <a:cubicBezTo>
                    <a:pt x="75438" y="2940812"/>
                    <a:pt x="0" y="2865374"/>
                    <a:pt x="0" y="2772283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356846" y="6248381"/>
            <a:ext cx="7335479" cy="44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Modeling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6846" y="6782562"/>
            <a:ext cx="7335479" cy="105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Train &amp; compare four regression models; evaluate with MAE, RMSE, R².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295838" y="5944229"/>
            <a:ext cx="7962824" cy="2205571"/>
            <a:chOff x="0" y="0"/>
            <a:chExt cx="10617098" cy="294076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617073" cy="2940685"/>
            </a:xfrm>
            <a:custGeom>
              <a:avLst/>
              <a:gdLst/>
              <a:ahLst/>
              <a:cxnLst/>
              <a:rect r="r" b="b" t="t" l="l"/>
              <a:pathLst>
                <a:path h="2940685" w="10617073">
                  <a:moveTo>
                    <a:pt x="0" y="168402"/>
                  </a:moveTo>
                  <a:cubicBezTo>
                    <a:pt x="0" y="75438"/>
                    <a:pt x="75438" y="0"/>
                    <a:pt x="168402" y="0"/>
                  </a:cubicBezTo>
                  <a:lnTo>
                    <a:pt x="10448671" y="0"/>
                  </a:lnTo>
                  <a:cubicBezTo>
                    <a:pt x="10541635" y="0"/>
                    <a:pt x="10617073" y="75438"/>
                    <a:pt x="10617073" y="168402"/>
                  </a:cubicBezTo>
                  <a:lnTo>
                    <a:pt x="10617073" y="2772283"/>
                  </a:lnTo>
                  <a:cubicBezTo>
                    <a:pt x="10617073" y="2865247"/>
                    <a:pt x="10541635" y="2940685"/>
                    <a:pt x="10448671" y="2940685"/>
                  </a:cubicBezTo>
                  <a:lnTo>
                    <a:pt x="168402" y="2940685"/>
                  </a:lnTo>
                  <a:cubicBezTo>
                    <a:pt x="75438" y="2940812"/>
                    <a:pt x="0" y="2865374"/>
                    <a:pt x="0" y="2772283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9609506" y="6248381"/>
            <a:ext cx="2560290" cy="412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Prediction Demo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609506" y="6782562"/>
            <a:ext cx="7335479" cy="57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Predict on unseen input to demonstrate usage.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424809" y="-8039"/>
            <a:ext cx="6863191" cy="10295039"/>
            <a:chOff x="0" y="0"/>
            <a:chExt cx="9150922" cy="1372671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50858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15085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47950" y="1870319"/>
            <a:ext cx="9342758" cy="733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spc="-88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Dataset Description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950" y="3037161"/>
            <a:ext cx="9342758" cy="1662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Source: Historical hotel booking data aggregated to daily records.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Prepared dataset size: </a:t>
            </a:r>
            <a:r>
              <a:rPr lang="en-US" b="true" sz="2326" spc="-46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793 daily observations</a:t>
            </a: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Target variable: </a:t>
            </a:r>
            <a:r>
              <a:rPr lang="en-US" b="true" sz="2326" spc="-46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daily hotel booking demand</a:t>
            </a: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(demand).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950" y="5139042"/>
            <a:ext cx="9342758" cy="44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Key features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950" y="6022457"/>
            <a:ext cx="9342758" cy="107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day_of_week, month, year, week_of_year, is_weekend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lag_1, lag_7, rolling_7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7950" y="7342442"/>
            <a:ext cx="9342758" cy="105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Daily booking records were aggregated to create the daily demand prediction dataset.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424809" y="-8039"/>
            <a:ext cx="6863191" cy="10295039"/>
            <a:chOff x="0" y="0"/>
            <a:chExt cx="9150922" cy="1372671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50858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15085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47950" y="1802101"/>
            <a:ext cx="9342758" cy="733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spc="-88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Data Preprocessing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950" y="3238386"/>
            <a:ext cx="4306176" cy="51211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Checked structure, missing values, and duplicates.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Processed arrival dates and aggregated bookings to daily demand.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Created calendar (time-based) features and lag / rolling features.</a:t>
            </a:r>
          </a:p>
          <a:p>
            <a:pPr algn="l" marL="421423" indent="-210712" lvl="1">
              <a:lnSpc>
                <a:spcPts val="3713"/>
              </a:lnSpc>
              <a:buFont typeface="Arial"/>
              <a:buChar char="•"/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Used time-based train/test split to avoid leakage.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4057" y="3274257"/>
            <a:ext cx="4306176" cy="44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5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Train/Test Split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4057" y="3928186"/>
            <a:ext cx="4306176" cy="132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3"/>
              </a:lnSpc>
            </a:pPr>
            <a:r>
              <a:rPr lang="en-US" b="true" sz="2326" spc="-46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Training:</a:t>
            </a: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628 observations</a:t>
            </a:r>
          </a:p>
          <a:p>
            <a:pPr algn="l">
              <a:lnSpc>
                <a:spcPts val="3713"/>
              </a:lnSpc>
            </a:pPr>
            <a:r>
              <a:rPr lang="en-US" b="true" sz="2326" spc="-46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Testing:</a:t>
            </a: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158 observations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4057" y="5425373"/>
            <a:ext cx="4306176" cy="1532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3"/>
              </a:lnSpc>
            </a:pPr>
            <a:r>
              <a:rPr lang="en-US" sz="2326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Workflow: Raw Data → Cleaning → Daily Demand → Feature Engineering → Train/Test Split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7950" y="817569"/>
            <a:ext cx="16205949" cy="635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77"/>
              </a:lnSpc>
            </a:pPr>
            <a:r>
              <a:rPr lang="en-US" sz="3827" spc="-78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Exploratory Data Analysis (EDA)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87424" y="1739101"/>
            <a:ext cx="15902583" cy="266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1436" indent="-265718" lvl="1">
              <a:lnSpc>
                <a:spcPts val="3071"/>
              </a:lnSpc>
              <a:buFont typeface="Arial"/>
              <a:buChar char="•"/>
            </a:pPr>
            <a:r>
              <a:rPr lang="en-US" sz="2461" spc="-49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The cleaned dataset contains 87,229 booking records and 32 columns.</a:t>
            </a:r>
          </a:p>
          <a:p>
            <a:pPr algn="l" marL="531436" indent="-265718" lvl="1">
              <a:lnSpc>
                <a:spcPts val="3071"/>
              </a:lnSpc>
              <a:buFont typeface="Arial"/>
              <a:buChar char="•"/>
            </a:pPr>
            <a:r>
              <a:rPr lang="en-US" sz="2461" spc="-49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City Hotel has more bookings (53,274) than Resort Hotel (33,955).</a:t>
            </a:r>
          </a:p>
          <a:p>
            <a:pPr algn="l" marL="531436" indent="-265718" lvl="1">
              <a:lnSpc>
                <a:spcPts val="3071"/>
              </a:lnSpc>
              <a:buFont typeface="Arial"/>
              <a:buChar char="•"/>
            </a:pPr>
            <a:r>
              <a:rPr lang="en-US" sz="2461" spc="-49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24,009 bookings were canceled, while 63,220 were not canceled.</a:t>
            </a:r>
          </a:p>
          <a:p>
            <a:pPr algn="l" marL="531436" indent="-265718" lvl="1">
              <a:lnSpc>
                <a:spcPts val="3071"/>
              </a:lnSpc>
              <a:buFont typeface="Arial"/>
              <a:buChar char="•"/>
            </a:pPr>
            <a:r>
              <a:rPr lang="en-US" sz="2461" spc="-49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The overall cancellation rate is approximately 27.52%.</a:t>
            </a:r>
          </a:p>
          <a:p>
            <a:pPr algn="l" marL="531436" indent="-265718" lvl="1">
              <a:lnSpc>
                <a:spcPts val="3071"/>
              </a:lnSpc>
              <a:buFont typeface="Arial"/>
              <a:buChar char="•"/>
            </a:pPr>
            <a:r>
              <a:rPr lang="en-US" sz="2461" spc="-49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August has the highest number of bookings with 11,242 bookings, while January has the lowest with 4,685 bookings.</a:t>
            </a:r>
          </a:p>
          <a:p>
            <a:pPr algn="l" marL="531436" indent="-265718" lvl="1">
              <a:lnSpc>
                <a:spcPts val="3071"/>
              </a:lnSpc>
              <a:buFont typeface="Arial"/>
              <a:buChar char="•"/>
            </a:pPr>
            <a:r>
              <a:rPr lang="en-US" sz="2461" spc="-49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2016 has the highest number of bookings with 42,313 records.</a:t>
            </a:r>
          </a:p>
          <a:p>
            <a:pPr algn="l">
              <a:lnSpc>
                <a:spcPts val="3071"/>
              </a:lnSpc>
            </a:pP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9212" y="4872699"/>
            <a:ext cx="7382053" cy="5307284"/>
          </a:xfrm>
          <a:custGeom>
            <a:avLst/>
            <a:gdLst/>
            <a:ahLst/>
            <a:cxnLst/>
            <a:rect r="r" b="b" t="t" l="l"/>
            <a:pathLst>
              <a:path h="5307284" w="7382053">
                <a:moveTo>
                  <a:pt x="0" y="0"/>
                </a:moveTo>
                <a:lnTo>
                  <a:pt x="7382054" y="0"/>
                </a:lnTo>
                <a:lnTo>
                  <a:pt x="7382054" y="5307284"/>
                </a:lnTo>
                <a:lnTo>
                  <a:pt x="0" y="53072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501336" y="4893552"/>
            <a:ext cx="6555762" cy="5009121"/>
          </a:xfrm>
          <a:custGeom>
            <a:avLst/>
            <a:gdLst/>
            <a:ahLst/>
            <a:cxnLst/>
            <a:rect r="r" b="b" t="t" l="l"/>
            <a:pathLst>
              <a:path h="5009121" w="6555762">
                <a:moveTo>
                  <a:pt x="0" y="0"/>
                </a:moveTo>
                <a:lnTo>
                  <a:pt x="6555762" y="0"/>
                </a:lnTo>
                <a:lnTo>
                  <a:pt x="6555762" y="5009121"/>
                </a:lnTo>
                <a:lnTo>
                  <a:pt x="0" y="50091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2839" y="5360619"/>
            <a:ext cx="6646859" cy="4926381"/>
          </a:xfrm>
          <a:custGeom>
            <a:avLst/>
            <a:gdLst/>
            <a:ahLst/>
            <a:cxnLst/>
            <a:rect r="r" b="b" t="t" l="l"/>
            <a:pathLst>
              <a:path h="4926381" w="6646859">
                <a:moveTo>
                  <a:pt x="0" y="0"/>
                </a:moveTo>
                <a:lnTo>
                  <a:pt x="6646859" y="0"/>
                </a:lnTo>
                <a:lnTo>
                  <a:pt x="6646859" y="4926381"/>
                </a:lnTo>
                <a:lnTo>
                  <a:pt x="0" y="49263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7201" b="-315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94026" y="1019175"/>
            <a:ext cx="17305985" cy="3901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Transient customers form the largest customer segment with 71,862 bookings.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Room Type A is the most frequently reserved room type with 56,435 bookings.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The average total stay is approximately 3.63 nights, with a median of 3 nights.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Most bookings have relatively short stays, mainly around 1 to 5 nights.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The lead time distribution is right-skewed, with a median of 49 days and an average of approximately 79.97 days.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Most bookings have no special requests.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The ADR distribution is right-skewed, with most bookings concentrated at lower ADR values.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Correlation analysis shows mostly weak relationships among the selected numerical variables.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The strongest observed relationship is between lead_time and total_stay_nights, with a correlation of approximately 0.321.</a:t>
            </a:r>
          </a:p>
          <a:p>
            <a:pPr algn="l" marL="550120" indent="-275060" lvl="1">
              <a:lnSpc>
                <a:spcPts val="3179"/>
              </a:lnSpc>
              <a:buFont typeface="Arial"/>
              <a:buChar char="•"/>
            </a:pPr>
            <a:r>
              <a:rPr lang="en-US" sz="2548" spc="-5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No very strong correlation was observed among the selected numerical features.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136205" y="5013730"/>
            <a:ext cx="7463805" cy="5273270"/>
          </a:xfrm>
          <a:custGeom>
            <a:avLst/>
            <a:gdLst/>
            <a:ahLst/>
            <a:cxnLst/>
            <a:rect r="r" b="b" t="t" l="l"/>
            <a:pathLst>
              <a:path h="5273270" w="7463805">
                <a:moveTo>
                  <a:pt x="0" y="0"/>
                </a:moveTo>
                <a:lnTo>
                  <a:pt x="7463805" y="0"/>
                </a:lnTo>
                <a:lnTo>
                  <a:pt x="7463805" y="5273270"/>
                </a:lnTo>
                <a:lnTo>
                  <a:pt x="0" y="52732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1763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38644" y="182010"/>
            <a:ext cx="2257051" cy="540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9"/>
              </a:lnSpc>
            </a:pPr>
            <a:r>
              <a:rPr lang="en-US" sz="3501" spc="-70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EDA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7950" y="826951"/>
            <a:ext cx="16205949" cy="472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59"/>
              </a:lnSpc>
            </a:pPr>
            <a:r>
              <a:rPr lang="en-US" sz="2852" spc="-58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Feature Engineering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950" y="1621107"/>
            <a:ext cx="7863326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Calendar Features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950" y="2081736"/>
            <a:ext cx="7863326" cy="143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day_of_week — day index (Mon–Sun)</a:t>
            </a:r>
          </a:p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month — calendar month</a:t>
            </a:r>
          </a:p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year — arrival year</a:t>
            </a:r>
          </a:p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week_of_year — ISO week number</a:t>
            </a:r>
          </a:p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is_weekend — boolean for weekend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400099" y="1621107"/>
            <a:ext cx="7863326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Historical Demand Features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00099" y="2081736"/>
            <a:ext cx="7863326" cy="828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lag_1 — previous day's demand</a:t>
            </a:r>
          </a:p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lag_7 — demand seven days earlier</a:t>
            </a:r>
          </a:p>
          <a:p>
            <a:pPr algn="l" marL="271886" indent="-135943" lvl="1">
              <a:lnSpc>
                <a:spcPts val="1981"/>
              </a:lnSpc>
              <a:buFont typeface="Arial"/>
              <a:buChar char="•"/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rolling_7 — 7-day rolling average of demand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47950" y="3759660"/>
            <a:ext cx="16205949" cy="28594"/>
            <a:chOff x="0" y="0"/>
            <a:chExt cx="21607932" cy="3812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607907" cy="38100"/>
            </a:xfrm>
            <a:custGeom>
              <a:avLst/>
              <a:gdLst/>
              <a:ahLst/>
              <a:cxnLst/>
              <a:rect r="r" b="b" t="t" l="l"/>
              <a:pathLst>
                <a:path h="38100" w="2160790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21588857" y="0"/>
                  </a:lnTo>
                  <a:cubicBezTo>
                    <a:pt x="21599398" y="0"/>
                    <a:pt x="21607907" y="8509"/>
                    <a:pt x="21607907" y="19050"/>
                  </a:cubicBezTo>
                  <a:cubicBezTo>
                    <a:pt x="21607907" y="29591"/>
                    <a:pt x="21599398" y="38100"/>
                    <a:pt x="21588857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272525">
                <a:alpha val="24706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47950" y="4030589"/>
            <a:ext cx="16205949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Feature importance (Random Forest)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43178" y="4508106"/>
            <a:ext cx="8048015" cy="1047969"/>
            <a:chOff x="0" y="0"/>
            <a:chExt cx="10730687" cy="139729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730611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611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613" y="0"/>
                  </a:lnTo>
                  <a:cubicBezTo>
                    <a:pt x="10680954" y="0"/>
                    <a:pt x="10730611" y="49784"/>
                    <a:pt x="10730611" y="110998"/>
                  </a:cubicBezTo>
                  <a:lnTo>
                    <a:pt x="10730611" y="1286129"/>
                  </a:lnTo>
                  <a:cubicBezTo>
                    <a:pt x="10730611" y="1347470"/>
                    <a:pt x="10680827" y="1397127"/>
                    <a:pt x="10619613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53928" y="4718856"/>
            <a:ext cx="7626515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rolling_7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53928" y="5075587"/>
            <a:ext cx="7626515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b="true" sz="1501" spc="-31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0.504157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210494" y="4508106"/>
            <a:ext cx="8048158" cy="1047969"/>
            <a:chOff x="0" y="0"/>
            <a:chExt cx="10730878" cy="139729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730865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865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867" y="0"/>
                  </a:lnTo>
                  <a:cubicBezTo>
                    <a:pt x="10681208" y="0"/>
                    <a:pt x="10730865" y="49784"/>
                    <a:pt x="10730865" y="110998"/>
                  </a:cubicBezTo>
                  <a:lnTo>
                    <a:pt x="10730865" y="1286129"/>
                  </a:lnTo>
                  <a:cubicBezTo>
                    <a:pt x="10730865" y="1347470"/>
                    <a:pt x="10681081" y="1397127"/>
                    <a:pt x="10619867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9421244" y="4718856"/>
            <a:ext cx="7626658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lag_7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421244" y="5075587"/>
            <a:ext cx="7626658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b="true" sz="1501" spc="-31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0.166339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43178" y="5675376"/>
            <a:ext cx="8048015" cy="1047969"/>
            <a:chOff x="0" y="0"/>
            <a:chExt cx="10730687" cy="139729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730611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611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613" y="0"/>
                  </a:lnTo>
                  <a:cubicBezTo>
                    <a:pt x="10680954" y="0"/>
                    <a:pt x="10730611" y="49784"/>
                    <a:pt x="10730611" y="110998"/>
                  </a:cubicBezTo>
                  <a:lnTo>
                    <a:pt x="10730611" y="1286129"/>
                  </a:lnTo>
                  <a:cubicBezTo>
                    <a:pt x="10730611" y="1347470"/>
                    <a:pt x="10680827" y="1397127"/>
                    <a:pt x="10619613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53928" y="5886136"/>
            <a:ext cx="7626515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lag_1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53928" y="6242866"/>
            <a:ext cx="7626515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b="true" sz="1501" spc="-31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0.134810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210494" y="5675376"/>
            <a:ext cx="8048158" cy="1047969"/>
            <a:chOff x="0" y="0"/>
            <a:chExt cx="10730878" cy="139729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30865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865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867" y="0"/>
                  </a:lnTo>
                  <a:cubicBezTo>
                    <a:pt x="10681208" y="0"/>
                    <a:pt x="10730865" y="49784"/>
                    <a:pt x="10730865" y="110998"/>
                  </a:cubicBezTo>
                  <a:lnTo>
                    <a:pt x="10730865" y="1286129"/>
                  </a:lnTo>
                  <a:cubicBezTo>
                    <a:pt x="10730865" y="1347470"/>
                    <a:pt x="10681081" y="1397127"/>
                    <a:pt x="10619867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9421244" y="5886136"/>
            <a:ext cx="7626658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day_of_week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421244" y="6242866"/>
            <a:ext cx="7626658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0.079032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43178" y="6842655"/>
            <a:ext cx="8048015" cy="1047969"/>
            <a:chOff x="0" y="0"/>
            <a:chExt cx="10730687" cy="139729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730611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611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613" y="0"/>
                  </a:lnTo>
                  <a:cubicBezTo>
                    <a:pt x="10680954" y="0"/>
                    <a:pt x="10730611" y="49784"/>
                    <a:pt x="10730611" y="110998"/>
                  </a:cubicBezTo>
                  <a:lnTo>
                    <a:pt x="10730611" y="1286129"/>
                  </a:lnTo>
                  <a:cubicBezTo>
                    <a:pt x="10730611" y="1347470"/>
                    <a:pt x="10680827" y="1397127"/>
                    <a:pt x="10619613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253928" y="7053415"/>
            <a:ext cx="7626515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week_of_year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53928" y="7410145"/>
            <a:ext cx="7626515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0.070081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210494" y="6842655"/>
            <a:ext cx="8048158" cy="1047969"/>
            <a:chOff x="0" y="0"/>
            <a:chExt cx="10730878" cy="139729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30865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865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867" y="0"/>
                  </a:lnTo>
                  <a:cubicBezTo>
                    <a:pt x="10681208" y="0"/>
                    <a:pt x="10730865" y="49784"/>
                    <a:pt x="10730865" y="110998"/>
                  </a:cubicBezTo>
                  <a:lnTo>
                    <a:pt x="10730865" y="1286129"/>
                  </a:lnTo>
                  <a:cubicBezTo>
                    <a:pt x="10730865" y="1347470"/>
                    <a:pt x="10681081" y="1397127"/>
                    <a:pt x="10619867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9421244" y="7053415"/>
            <a:ext cx="7626658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month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421244" y="7410145"/>
            <a:ext cx="7626658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0.028281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043178" y="8009934"/>
            <a:ext cx="8048015" cy="1047969"/>
            <a:chOff x="0" y="0"/>
            <a:chExt cx="10730687" cy="1397292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730611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611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613" y="0"/>
                  </a:lnTo>
                  <a:cubicBezTo>
                    <a:pt x="10680954" y="0"/>
                    <a:pt x="10730611" y="49784"/>
                    <a:pt x="10730611" y="110998"/>
                  </a:cubicBezTo>
                  <a:lnTo>
                    <a:pt x="10730611" y="1286129"/>
                  </a:lnTo>
                  <a:cubicBezTo>
                    <a:pt x="10730611" y="1347470"/>
                    <a:pt x="10680827" y="1397127"/>
                    <a:pt x="10619613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40" id="40"/>
          <p:cNvSpPr txBox="true"/>
          <p:nvPr/>
        </p:nvSpPr>
        <p:spPr>
          <a:xfrm rot="0">
            <a:off x="1253928" y="8220694"/>
            <a:ext cx="7626515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year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53928" y="8577424"/>
            <a:ext cx="7626515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0.011875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210494" y="8009934"/>
            <a:ext cx="8048158" cy="1047969"/>
            <a:chOff x="0" y="0"/>
            <a:chExt cx="10730878" cy="139729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730865" cy="1397127"/>
            </a:xfrm>
            <a:custGeom>
              <a:avLst/>
              <a:gdLst/>
              <a:ahLst/>
              <a:cxnLst/>
              <a:rect r="r" b="b" t="t" l="l"/>
              <a:pathLst>
                <a:path h="1397127" w="10730865">
                  <a:moveTo>
                    <a:pt x="0" y="110998"/>
                  </a:moveTo>
                  <a:cubicBezTo>
                    <a:pt x="0" y="49784"/>
                    <a:pt x="49784" y="0"/>
                    <a:pt x="110998" y="0"/>
                  </a:cubicBezTo>
                  <a:lnTo>
                    <a:pt x="10619867" y="0"/>
                  </a:lnTo>
                  <a:cubicBezTo>
                    <a:pt x="10681208" y="0"/>
                    <a:pt x="10730865" y="49784"/>
                    <a:pt x="10730865" y="110998"/>
                  </a:cubicBezTo>
                  <a:lnTo>
                    <a:pt x="10730865" y="1286129"/>
                  </a:lnTo>
                  <a:cubicBezTo>
                    <a:pt x="10730865" y="1347470"/>
                    <a:pt x="10681081" y="1397127"/>
                    <a:pt x="10619867" y="1397127"/>
                  </a:cubicBezTo>
                  <a:lnTo>
                    <a:pt x="110998" y="1397127"/>
                  </a:lnTo>
                  <a:cubicBezTo>
                    <a:pt x="49657" y="1397127"/>
                    <a:pt x="0" y="1347343"/>
                    <a:pt x="0" y="1286129"/>
                  </a:cubicBezTo>
                  <a:close/>
                </a:path>
              </a:pathLst>
            </a:custGeom>
            <a:solidFill>
              <a:srgbClr val="F0D4F7"/>
            </a:solidFill>
            <a:ln w="9532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9421244" y="8220694"/>
            <a:ext cx="7626658" cy="28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1801" spc="-36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is_weekend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421244" y="8577424"/>
            <a:ext cx="7626658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0.005426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47950" y="9188691"/>
            <a:ext cx="17121035" cy="269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b="true" sz="1501" spc="-31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Note:</a:t>
            </a: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1501" spc="-31">
                <a:solidFill>
                  <a:srgbClr val="BE49DF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rolling_7</a:t>
            </a:r>
            <a:r>
              <a:rPr lang="en-US" sz="1501" spc="-3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the most important feature in the Random Forest model.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13840" y="2968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7950" y="804462"/>
            <a:ext cx="16205949" cy="37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spc="-45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ML Methodology &amp; Models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921935" y="1325461"/>
            <a:ext cx="14457978" cy="7900606"/>
            <a:chOff x="0" y="0"/>
            <a:chExt cx="19277305" cy="10534142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19277330" cy="10534142"/>
            </a:xfrm>
            <a:custGeom>
              <a:avLst/>
              <a:gdLst/>
              <a:ahLst/>
              <a:cxnLst/>
              <a:rect r="r" b="b" t="t" l="l"/>
              <a:pathLst>
                <a:path h="10534142" w="19277330">
                  <a:moveTo>
                    <a:pt x="0" y="0"/>
                  </a:moveTo>
                  <a:lnTo>
                    <a:pt x="19277330" y="0"/>
                  </a:lnTo>
                  <a:lnTo>
                    <a:pt x="19277330" y="10534142"/>
                  </a:lnTo>
                  <a:lnTo>
                    <a:pt x="0" y="1053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3828450" y="5031257"/>
            <a:ext cx="3350028" cy="43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2"/>
              </a:lnSpc>
            </a:pPr>
            <a:r>
              <a:rPr lang="en-US" sz="2702" spc="-5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Data Preparation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287841" y="4979851"/>
            <a:ext cx="3350028" cy="43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2"/>
              </a:lnSpc>
            </a:pPr>
            <a:r>
              <a:rPr lang="en-US" sz="2702" spc="-5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Model Development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155381" y="4782093"/>
            <a:ext cx="3350028" cy="866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2"/>
              </a:lnSpc>
            </a:pPr>
            <a:r>
              <a:rPr lang="en-US" sz="2702" spc="-5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Selection &amp; Prediction</a:t>
            </a:r>
          </a:p>
        </p:txBody>
      </p:sp>
      <p:sp>
        <p:nvSpPr>
          <p:cNvPr name="Freeform 12" id="12" descr="preencoded.png"/>
          <p:cNvSpPr/>
          <p:nvPr/>
        </p:nvSpPr>
        <p:spPr>
          <a:xfrm flipH="false" flipV="false" rot="0">
            <a:off x="1047950" y="9310221"/>
            <a:ext cx="374285" cy="374294"/>
          </a:xfrm>
          <a:custGeom>
            <a:avLst/>
            <a:gdLst/>
            <a:ahLst/>
            <a:cxnLst/>
            <a:rect r="r" b="b" t="t" l="l"/>
            <a:pathLst>
              <a:path h="374294" w="374285">
                <a:moveTo>
                  <a:pt x="0" y="0"/>
                </a:moveTo>
                <a:lnTo>
                  <a:pt x="374285" y="0"/>
                </a:lnTo>
                <a:lnTo>
                  <a:pt x="374285" y="374294"/>
                </a:lnTo>
                <a:lnTo>
                  <a:pt x="0" y="37429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6252" t="0" r="-625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47950" y="9778060"/>
            <a:ext cx="8149733" cy="201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351" spc="-27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Linear Regression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950" y="10043027"/>
            <a:ext cx="8056207" cy="17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"/>
              </a:lnSpc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Baseline linear model for relationship estimation.</a:t>
            </a:r>
          </a:p>
        </p:txBody>
      </p:sp>
      <p:sp>
        <p:nvSpPr>
          <p:cNvPr name="Freeform 15" id="15" descr="preencoded.png"/>
          <p:cNvSpPr/>
          <p:nvPr/>
        </p:nvSpPr>
        <p:spPr>
          <a:xfrm flipH="false" flipV="false" rot="0">
            <a:off x="9197683" y="9310221"/>
            <a:ext cx="374285" cy="374294"/>
          </a:xfrm>
          <a:custGeom>
            <a:avLst/>
            <a:gdLst/>
            <a:ahLst/>
            <a:cxnLst/>
            <a:rect r="r" b="b" t="t" l="l"/>
            <a:pathLst>
              <a:path h="374294" w="374285">
                <a:moveTo>
                  <a:pt x="0" y="0"/>
                </a:moveTo>
                <a:lnTo>
                  <a:pt x="374285" y="0"/>
                </a:lnTo>
                <a:lnTo>
                  <a:pt x="374285" y="374294"/>
                </a:lnTo>
                <a:lnTo>
                  <a:pt x="0" y="37429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1" t="0" r="-1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197683" y="9778060"/>
            <a:ext cx="8056207" cy="220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351" spc="-27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Random Forest Regressor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197683" y="10043027"/>
            <a:ext cx="8056207" cy="17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"/>
              </a:lnSpc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Ensemble of trees to capture non-linearities and interactions.</a:t>
            </a:r>
          </a:p>
        </p:txBody>
      </p:sp>
      <p:sp>
        <p:nvSpPr>
          <p:cNvPr name="Freeform 18" id="18" descr="preencoded.png"/>
          <p:cNvSpPr/>
          <p:nvPr/>
        </p:nvSpPr>
        <p:spPr>
          <a:xfrm flipH="false" flipV="false" rot="0">
            <a:off x="1047950" y="10372344"/>
            <a:ext cx="374285" cy="374294"/>
          </a:xfrm>
          <a:custGeom>
            <a:avLst/>
            <a:gdLst/>
            <a:ahLst/>
            <a:cxnLst/>
            <a:rect r="r" b="b" t="t" l="l"/>
            <a:pathLst>
              <a:path h="374294" w="374285">
                <a:moveTo>
                  <a:pt x="0" y="0"/>
                </a:moveTo>
                <a:lnTo>
                  <a:pt x="374285" y="0"/>
                </a:lnTo>
                <a:lnTo>
                  <a:pt x="374285" y="374294"/>
                </a:lnTo>
                <a:lnTo>
                  <a:pt x="0" y="37429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2498" r="0" b="-2498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47950" y="10840183"/>
            <a:ext cx="8056207" cy="220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351" spc="-27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Gradient Boosting Regressor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47950" y="11105150"/>
            <a:ext cx="8056207" cy="17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"/>
              </a:lnSpc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Sequential tree boosting to reduce bias.</a:t>
            </a:r>
          </a:p>
        </p:txBody>
      </p:sp>
      <p:sp>
        <p:nvSpPr>
          <p:cNvPr name="Freeform 21" id="21" descr="preencoded.png"/>
          <p:cNvSpPr/>
          <p:nvPr/>
        </p:nvSpPr>
        <p:spPr>
          <a:xfrm flipH="false" flipV="false" rot="0">
            <a:off x="9197683" y="10372344"/>
            <a:ext cx="374285" cy="374294"/>
          </a:xfrm>
          <a:custGeom>
            <a:avLst/>
            <a:gdLst/>
            <a:ahLst/>
            <a:cxnLst/>
            <a:rect r="r" b="b" t="t" l="l"/>
            <a:pathLst>
              <a:path h="374294" w="374285">
                <a:moveTo>
                  <a:pt x="0" y="0"/>
                </a:moveTo>
                <a:lnTo>
                  <a:pt x="374285" y="0"/>
                </a:lnTo>
                <a:lnTo>
                  <a:pt x="374285" y="374294"/>
                </a:lnTo>
                <a:lnTo>
                  <a:pt x="0" y="37429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47498" r="0" b="-47498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9197683" y="10840183"/>
            <a:ext cx="8056207" cy="220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351" spc="-27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Artificial Neural Network (ANN)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97683" y="11105150"/>
            <a:ext cx="8056207" cy="17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"/>
              </a:lnSpc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Feed-forward network; inputs scaled with StandardScaler.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5221145" y="6505195"/>
            <a:ext cx="6645905" cy="3581779"/>
          </a:xfrm>
          <a:custGeom>
            <a:avLst/>
            <a:gdLst/>
            <a:ahLst/>
            <a:cxnLst/>
            <a:rect r="r" b="b" t="t" l="l"/>
            <a:pathLst>
              <a:path h="3581779" w="6645905">
                <a:moveTo>
                  <a:pt x="0" y="0"/>
                </a:moveTo>
                <a:lnTo>
                  <a:pt x="6645905" y="0"/>
                </a:lnTo>
                <a:lnTo>
                  <a:pt x="6645905" y="3581779"/>
                </a:lnTo>
                <a:lnTo>
                  <a:pt x="0" y="35817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32" t="0" r="-5047" b="-684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34313" y="1996981"/>
            <a:ext cx="7908971" cy="4342522"/>
          </a:xfrm>
          <a:custGeom>
            <a:avLst/>
            <a:gdLst/>
            <a:ahLst/>
            <a:cxnLst/>
            <a:rect r="r" b="b" t="t" l="l"/>
            <a:pathLst>
              <a:path h="4342522" w="7908971">
                <a:moveTo>
                  <a:pt x="0" y="0"/>
                </a:moveTo>
                <a:lnTo>
                  <a:pt x="7908971" y="0"/>
                </a:lnTo>
                <a:lnTo>
                  <a:pt x="7908971" y="4342522"/>
                </a:lnTo>
                <a:lnTo>
                  <a:pt x="0" y="43425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684179" y="1246412"/>
            <a:ext cx="9559895" cy="5188445"/>
          </a:xfrm>
          <a:custGeom>
            <a:avLst/>
            <a:gdLst/>
            <a:ahLst/>
            <a:cxnLst/>
            <a:rect r="r" b="b" t="t" l="l"/>
            <a:pathLst>
              <a:path h="5188445" w="9559895">
                <a:moveTo>
                  <a:pt x="0" y="0"/>
                </a:moveTo>
                <a:lnTo>
                  <a:pt x="9559895" y="0"/>
                </a:lnTo>
                <a:lnTo>
                  <a:pt x="9559895" y="5188444"/>
                </a:lnTo>
                <a:lnTo>
                  <a:pt x="0" y="51884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47950" y="804462"/>
            <a:ext cx="16205949" cy="37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spc="-45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Model Evaluation &amp; Comparison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950" y="1325461"/>
            <a:ext cx="539859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1"/>
              </a:lnSpc>
            </a:pPr>
            <a:r>
              <a:rPr lang="en-US" sz="1625" spc="-3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Metrics on test set — lower MAE/RMSE is better; higher R² is better.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950" y="10823648"/>
            <a:ext cx="7920371" cy="220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351" spc="-27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Key observations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7950" y="11158452"/>
            <a:ext cx="7920371" cy="551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3914" indent="-101957" lvl="1">
              <a:lnSpc>
                <a:spcPts val="1351"/>
              </a:lnSpc>
              <a:buFont typeface="Arial"/>
              <a:buChar char="•"/>
            </a:pPr>
            <a:r>
              <a:rPr lang="en-US" b="true" sz="1125" spc="-24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MAE:</a:t>
            </a: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ANN lowest (22.254582).</a:t>
            </a:r>
          </a:p>
          <a:p>
            <a:pPr algn="l" marL="203914" indent="-101957" lvl="1">
              <a:lnSpc>
                <a:spcPts val="1351"/>
              </a:lnSpc>
              <a:buFont typeface="Arial"/>
              <a:buChar char="•"/>
            </a:pPr>
            <a:r>
              <a:rPr lang="en-US" b="true" sz="1125" spc="-24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RMSE:</a:t>
            </a: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Linear Regression lowest (28.747222).</a:t>
            </a:r>
          </a:p>
          <a:p>
            <a:pPr algn="l" marL="203914" indent="-101957" lvl="1">
              <a:lnSpc>
                <a:spcPts val="1351"/>
              </a:lnSpc>
              <a:buFont typeface="Arial"/>
              <a:buChar char="•"/>
            </a:pPr>
            <a:r>
              <a:rPr lang="en-US" b="true" sz="1125" spc="-24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R²:</a:t>
            </a: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Linear Regression highest (-0.049421) — note negative values indicate low explanatory power vs baseline.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343053" y="10816199"/>
            <a:ext cx="8835466" cy="17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"/>
              </a:lnSpc>
            </a:pPr>
            <a:r>
              <a:rPr lang="en-US" b="true" sz="1125" spc="-24">
                <a:solidFill>
                  <a:srgbClr val="27252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Interpretation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43053" y="11103045"/>
            <a:ext cx="7920371" cy="345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3914" indent="-101957" lvl="1">
              <a:lnSpc>
                <a:spcPts val="1351"/>
              </a:lnSpc>
              <a:buFont typeface="Arial"/>
              <a:buChar char="•"/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All models show limited explanatory power on the test set (negative R²).</a:t>
            </a:r>
          </a:p>
          <a:p>
            <a:pPr algn="l" marL="203914" indent="-101957" lvl="1">
              <a:lnSpc>
                <a:spcPts val="1351"/>
              </a:lnSpc>
              <a:buFont typeface="Arial"/>
              <a:buChar char="•"/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ANN minimizes absolute error; Linear Regression minimizes squared error and yields best R².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7950" y="804462"/>
            <a:ext cx="16205949" cy="37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spc="-45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Model Evaluation &amp; Comparison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950" y="1325461"/>
            <a:ext cx="17121035" cy="17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"/>
              </a:lnSpc>
            </a:pPr>
            <a:r>
              <a:rPr lang="en-US" sz="1125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Comparison uses the exact test-set metrics from the project.</a:t>
            </a:r>
          </a:p>
        </p:txBody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1047948" y="1589238"/>
          <a:ext cx="16186095" cy="1429867"/>
        </p:xfrm>
        <a:graphic>
          <a:graphicData uri="http://schemas.openxmlformats.org/drawingml/2006/table">
            <a:tbl>
              <a:tblPr/>
              <a:tblGrid>
                <a:gridCol w="4855829"/>
                <a:gridCol w="3722802"/>
                <a:gridCol w="3722802"/>
                <a:gridCol w="3884664"/>
              </a:tblGrid>
              <a:tr h="285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b="true" sz="1200" spc="-24">
                          <a:solidFill>
                            <a:srgbClr val="272525"/>
                          </a:solidFill>
                          <a:latin typeface="Source Sans 3 Bold"/>
                          <a:ea typeface="Source Sans 3 Bold"/>
                          <a:cs typeface="Source Sans 3 Bold"/>
                          <a:sym typeface="Source Sans 3 Bold"/>
                        </a:rPr>
                        <a:t>Model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b="true" sz="1200" spc="-24">
                          <a:solidFill>
                            <a:srgbClr val="272525"/>
                          </a:solidFill>
                          <a:latin typeface="Source Sans 3 Bold"/>
                          <a:ea typeface="Source Sans 3 Bold"/>
                          <a:cs typeface="Source Sans 3 Bold"/>
                          <a:sym typeface="Source Sans 3 Bold"/>
                        </a:rPr>
                        <a:t>MAE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b="true" sz="1200" spc="-24">
                          <a:solidFill>
                            <a:srgbClr val="272525"/>
                          </a:solidFill>
                          <a:latin typeface="Source Sans 3 Bold"/>
                          <a:ea typeface="Source Sans 3 Bold"/>
                          <a:cs typeface="Source Sans 3 Bold"/>
                          <a:sym typeface="Source Sans 3 Bold"/>
                        </a:rPr>
                        <a:t>RMSE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b="true" sz="1200" spc="-24">
                          <a:solidFill>
                            <a:srgbClr val="272525"/>
                          </a:solidFill>
                          <a:latin typeface="Source Sans 3 Bold"/>
                          <a:ea typeface="Source Sans 3 Bold"/>
                          <a:cs typeface="Source Sans 3 Bold"/>
                          <a:sym typeface="Source Sans 3 Bold"/>
                        </a:rPr>
                        <a:t>R²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Linear Regression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22.432493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28.747222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-0.049421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Random Forest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22.797975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30.523246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-0.183094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Gradient Boosting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38.659776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45.759936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-1.659063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ANN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22.254582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29.156207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441"/>
                        </a:lnSpc>
                        <a:defRPr/>
                      </a:pPr>
                      <a:r>
                        <a:rPr lang="en-US" sz="1200" spc="-24">
                          <a:solidFill>
                            <a:srgbClr val="272525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-0.079493</a:t>
                      </a:r>
                      <a:endParaRPr lang="en-US" sz="1100"/>
                    </a:p>
                  </a:txBody>
                  <a:tcPr marL="99739" marR="99739" marT="99739" marB="99739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9" id="9"/>
          <p:cNvGrpSpPr/>
          <p:nvPr/>
        </p:nvGrpSpPr>
        <p:grpSpPr>
          <a:xfrm rot="0">
            <a:off x="1047950" y="3218393"/>
            <a:ext cx="7920371" cy="5701151"/>
            <a:chOff x="0" y="0"/>
            <a:chExt cx="10560494" cy="7601534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10560558" cy="7601585"/>
            </a:xfrm>
            <a:custGeom>
              <a:avLst/>
              <a:gdLst/>
              <a:ahLst/>
              <a:cxnLst/>
              <a:rect r="r" b="b" t="t" l="l"/>
              <a:pathLst>
                <a:path h="7601585" w="10560558">
                  <a:moveTo>
                    <a:pt x="0" y="0"/>
                  </a:moveTo>
                  <a:lnTo>
                    <a:pt x="10560558" y="0"/>
                  </a:lnTo>
                  <a:lnTo>
                    <a:pt x="10560558" y="7601585"/>
                  </a:lnTo>
                  <a:lnTo>
                    <a:pt x="0" y="76015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0" r="0" b="-69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43053" y="3218393"/>
            <a:ext cx="7920371" cy="5701151"/>
            <a:chOff x="0" y="0"/>
            <a:chExt cx="10560494" cy="7601534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10560558" cy="7601585"/>
            </a:xfrm>
            <a:custGeom>
              <a:avLst/>
              <a:gdLst/>
              <a:ahLst/>
              <a:cxnLst/>
              <a:rect r="r" b="b" t="t" l="l"/>
              <a:pathLst>
                <a:path h="7601585" w="10560558">
                  <a:moveTo>
                    <a:pt x="0" y="0"/>
                  </a:moveTo>
                  <a:lnTo>
                    <a:pt x="10560558" y="0"/>
                  </a:lnTo>
                  <a:lnTo>
                    <a:pt x="10560558" y="7601585"/>
                  </a:lnTo>
                  <a:lnTo>
                    <a:pt x="0" y="76015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70" r="0" b="-69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47950" y="18247490"/>
            <a:ext cx="16205949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"/>
              </a:lnSpc>
            </a:pPr>
            <a:r>
              <a:rPr lang="en-US" sz="900" spc="-24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 Interpretation: Lower MAE/RMSE indicate better predictive accuracy; higher R² indicates better explanatory power. ANN achieved the lowest MAE. Linear Regression produced the lowest RMSE and the highest (least negative) R². All models show negative R² on the test set, indicating performance worse than the baseline mean predictor on held-out data.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208476" y="922351"/>
            <a:ext cx="2135684" cy="540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96"/>
              </a:lnSpc>
            </a:pPr>
            <a:r>
              <a:rPr lang="en-US" sz="3602" spc="-72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Prediction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950" y="1882550"/>
            <a:ext cx="17121035" cy="4004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4"/>
              </a:lnSpc>
            </a:pPr>
            <a:r>
              <a:rPr lang="en-US" sz="1876" spc="-39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Example single-point prediction performed in the notebook using the final Linear Regression model on manually provided unseen input.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204575" y="3970181"/>
            <a:ext cx="5286356" cy="37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0"/>
              </a:lnSpc>
            </a:pPr>
            <a:r>
              <a:rPr lang="en-US" sz="2251" spc="-45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Final Prediction (Linear Regression)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265129" y="3593046"/>
            <a:ext cx="5286356" cy="3978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1"/>
              </a:lnSpc>
            </a:pPr>
            <a:r>
              <a:rPr lang="en-US" sz="6154" spc="-12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Predicted Hotel Demand = 124.7425 ≈ 124.74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204575" y="5331929"/>
            <a:ext cx="7017800" cy="1546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3"/>
              </a:lnSpc>
            </a:pPr>
            <a:r>
              <a:rPr lang="en-US" sz="1992" spc="-51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prediction was generated by the final Linear Regression model on a manually supplied unseen feature vector (details available in the notebook). Use the notebook screenshot as proof of the exact inference step.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7950" y="886244"/>
            <a:ext cx="16205949" cy="72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3"/>
              </a:lnSpc>
            </a:pPr>
            <a:r>
              <a:rPr lang="en-US" sz="4353" spc="-87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Results, Conclusion &amp; Limitations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28881" y="2169528"/>
            <a:ext cx="5246589" cy="7229618"/>
            <a:chOff x="0" y="0"/>
            <a:chExt cx="6995452" cy="96394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995414" cy="9639427"/>
            </a:xfrm>
            <a:custGeom>
              <a:avLst/>
              <a:gdLst/>
              <a:ahLst/>
              <a:cxnLst/>
              <a:rect r="r" b="b" t="t" l="l"/>
              <a:pathLst>
                <a:path h="9639427" w="6995414">
                  <a:moveTo>
                    <a:pt x="0" y="166243"/>
                  </a:moveTo>
                  <a:cubicBezTo>
                    <a:pt x="0" y="74422"/>
                    <a:pt x="74422" y="0"/>
                    <a:pt x="166243" y="0"/>
                  </a:cubicBezTo>
                  <a:lnTo>
                    <a:pt x="6829171" y="0"/>
                  </a:lnTo>
                  <a:cubicBezTo>
                    <a:pt x="6920992" y="0"/>
                    <a:pt x="6995414" y="74422"/>
                    <a:pt x="6995414" y="166243"/>
                  </a:cubicBezTo>
                  <a:lnTo>
                    <a:pt x="6995414" y="9473184"/>
                  </a:lnTo>
                  <a:cubicBezTo>
                    <a:pt x="6995414" y="9565005"/>
                    <a:pt x="6920992" y="9639427"/>
                    <a:pt x="6829171" y="9639427"/>
                  </a:cubicBezTo>
                  <a:lnTo>
                    <a:pt x="166243" y="9639427"/>
                  </a:lnTo>
                  <a:cubicBezTo>
                    <a:pt x="74422" y="9639427"/>
                    <a:pt x="0" y="9565005"/>
                    <a:pt x="0" y="9473184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38128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380830" y="2511952"/>
            <a:ext cx="4542692" cy="442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4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Results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80830" y="3052677"/>
            <a:ext cx="4542692" cy="381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6"/>
              </a:lnSpc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- ANN achieved the lowest MAE: 22.2546.</a:t>
            </a:r>
          </a:p>
          <a:p>
            <a:pPr algn="l">
              <a:lnSpc>
                <a:spcPts val="3566"/>
              </a:lnSpc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- Linear Regression achieved the lowest RMSE: 28.7472.</a:t>
            </a:r>
          </a:p>
          <a:p>
            <a:pPr algn="l">
              <a:lnSpc>
                <a:spcPts val="3566"/>
              </a:lnSpc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- Linear Regression achieved the highest R²: -0.0494.</a:t>
            </a:r>
          </a:p>
          <a:p>
            <a:pPr algn="l">
              <a:lnSpc>
                <a:spcPts val="3566"/>
              </a:lnSpc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- Gradient Boosting showed the weakest performance.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527482" y="2169528"/>
            <a:ext cx="5246732" cy="7229618"/>
            <a:chOff x="0" y="0"/>
            <a:chExt cx="6995643" cy="963949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995541" cy="9639427"/>
            </a:xfrm>
            <a:custGeom>
              <a:avLst/>
              <a:gdLst/>
              <a:ahLst/>
              <a:cxnLst/>
              <a:rect r="r" b="b" t="t" l="l"/>
              <a:pathLst>
                <a:path h="9639427" w="6995541">
                  <a:moveTo>
                    <a:pt x="0" y="166243"/>
                  </a:moveTo>
                  <a:cubicBezTo>
                    <a:pt x="0" y="74422"/>
                    <a:pt x="74422" y="0"/>
                    <a:pt x="166243" y="0"/>
                  </a:cubicBezTo>
                  <a:lnTo>
                    <a:pt x="6829298" y="0"/>
                  </a:lnTo>
                  <a:cubicBezTo>
                    <a:pt x="6921119" y="0"/>
                    <a:pt x="6995541" y="74422"/>
                    <a:pt x="6995541" y="166243"/>
                  </a:cubicBezTo>
                  <a:lnTo>
                    <a:pt x="6995541" y="9473184"/>
                  </a:lnTo>
                  <a:cubicBezTo>
                    <a:pt x="6995541" y="9565005"/>
                    <a:pt x="6921119" y="9639427"/>
                    <a:pt x="6829298" y="9639427"/>
                  </a:cubicBezTo>
                  <a:lnTo>
                    <a:pt x="166243" y="9639427"/>
                  </a:lnTo>
                  <a:cubicBezTo>
                    <a:pt x="74422" y="9639427"/>
                    <a:pt x="0" y="9565005"/>
                    <a:pt x="0" y="9473184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38128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879422" y="2511952"/>
            <a:ext cx="4542844" cy="442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4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Final Model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79422" y="3052677"/>
            <a:ext cx="4542844" cy="1947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6"/>
              </a:lnSpc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Linear Regression selected as the overall final model due to best RMSE and highest R² among evaluated models on the test set.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026217" y="2169528"/>
            <a:ext cx="5246732" cy="7229618"/>
            <a:chOff x="0" y="0"/>
            <a:chExt cx="6995643" cy="96394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995541" cy="9639427"/>
            </a:xfrm>
            <a:custGeom>
              <a:avLst/>
              <a:gdLst/>
              <a:ahLst/>
              <a:cxnLst/>
              <a:rect r="r" b="b" t="t" l="l"/>
              <a:pathLst>
                <a:path h="9639427" w="6995541">
                  <a:moveTo>
                    <a:pt x="0" y="166243"/>
                  </a:moveTo>
                  <a:cubicBezTo>
                    <a:pt x="0" y="74422"/>
                    <a:pt x="74422" y="0"/>
                    <a:pt x="166243" y="0"/>
                  </a:cubicBezTo>
                  <a:lnTo>
                    <a:pt x="6829298" y="0"/>
                  </a:lnTo>
                  <a:cubicBezTo>
                    <a:pt x="6921119" y="0"/>
                    <a:pt x="6995541" y="74422"/>
                    <a:pt x="6995541" y="166243"/>
                  </a:cubicBezTo>
                  <a:lnTo>
                    <a:pt x="6995541" y="9473184"/>
                  </a:lnTo>
                  <a:cubicBezTo>
                    <a:pt x="6995541" y="9565005"/>
                    <a:pt x="6921119" y="9639427"/>
                    <a:pt x="6829298" y="9639427"/>
                  </a:cubicBezTo>
                  <a:lnTo>
                    <a:pt x="166243" y="9639427"/>
                  </a:lnTo>
                  <a:cubicBezTo>
                    <a:pt x="74422" y="9639427"/>
                    <a:pt x="0" y="9565005"/>
                    <a:pt x="0" y="9473184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38128" cap="sq">
              <a:solidFill>
                <a:srgbClr val="D6BADD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78166" y="2511952"/>
            <a:ext cx="4542844" cy="442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spc="-54">
                <a:solidFill>
                  <a:srgbClr val="27252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Limitations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78166" y="3131220"/>
            <a:ext cx="4542844" cy="5915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830" indent="-203915" lvl="1">
              <a:lnSpc>
                <a:spcPts val="3566"/>
              </a:lnSpc>
              <a:buFont typeface="Arial"/>
              <a:buChar char="•"/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All models produced negative R² values on the test set — limited explanatory power vs baseline.</a:t>
            </a:r>
          </a:p>
          <a:p>
            <a:pPr algn="l" marL="407830" indent="-203915" lvl="1">
              <a:lnSpc>
                <a:spcPts val="3566"/>
              </a:lnSpc>
              <a:buFont typeface="Arial"/>
              <a:buChar char="•"/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Important external drivers (events, weather, promotions) were not included.</a:t>
            </a:r>
          </a:p>
          <a:p>
            <a:pPr algn="l" marL="407830" indent="-203915" lvl="1">
              <a:lnSpc>
                <a:spcPts val="3566"/>
              </a:lnSpc>
              <a:buFont typeface="Arial"/>
              <a:buChar char="•"/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Temporal non-stationarity and data sparsity can reduce generalisation.</a:t>
            </a:r>
          </a:p>
          <a:p>
            <a:pPr algn="l" marL="407830" indent="-203915" lvl="1">
              <a:lnSpc>
                <a:spcPts val="3566"/>
              </a:lnSpc>
              <a:buFont typeface="Arial"/>
              <a:buChar char="•"/>
            </a:pPr>
            <a:r>
              <a:rPr lang="en-US" sz="2251" spc="-46">
                <a:solidFill>
                  <a:srgbClr val="272525"/>
                </a:solidFill>
                <a:latin typeface="Source Sans 3"/>
                <a:ea typeface="Source Sans 3"/>
                <a:cs typeface="Source Sans 3"/>
                <a:sym typeface="Source Sans 3"/>
              </a:rPr>
              <a:t>Further data collection and modelling refinements are needed.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37375" y="4423387"/>
            <a:ext cx="14368574" cy="2944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2"/>
              </a:lnSpc>
              <a:spcBef>
                <a:spcPct val="0"/>
              </a:spcBef>
            </a:pPr>
            <a:r>
              <a:rPr lang="en-US" sz="3174" spc="-63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GitHub Repository: https://github.com/suraj116k-code/IBM-Hotel-booking-demand-prediction-project</a:t>
            </a:r>
          </a:p>
          <a:p>
            <a:pPr algn="ctr">
              <a:lnSpc>
                <a:spcPts val="3962"/>
              </a:lnSpc>
              <a:spcBef>
                <a:spcPct val="0"/>
              </a:spcBef>
            </a:pPr>
          </a:p>
          <a:p>
            <a:pPr algn="ctr">
              <a:lnSpc>
                <a:spcPts val="3962"/>
              </a:lnSpc>
              <a:spcBef>
                <a:spcPct val="0"/>
              </a:spcBef>
            </a:pPr>
          </a:p>
          <a:p>
            <a:pPr algn="ctr">
              <a:lnSpc>
                <a:spcPts val="3962"/>
              </a:lnSpc>
              <a:spcBef>
                <a:spcPct val="0"/>
              </a:spcBef>
            </a:pPr>
          </a:p>
          <a:p>
            <a:pPr algn="ctr">
              <a:lnSpc>
                <a:spcPts val="3962"/>
              </a:lnSpc>
              <a:spcBef>
                <a:spcPct val="0"/>
              </a:spcBef>
            </a:pPr>
            <a:r>
              <a:rPr lang="en-US" sz="3174" spc="-63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Thank You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683178" y="608311"/>
            <a:ext cx="3470821" cy="831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2"/>
              </a:lnSpc>
            </a:pPr>
            <a:r>
              <a:rPr lang="en-US" b="true" sz="2702" spc="-54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Future Scope &amp; GitHub</a:t>
            </a:r>
          </a:p>
          <a:p>
            <a:pPr algn="ctr">
              <a:lnSpc>
                <a:spcPts val="3372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461318" y="2096709"/>
            <a:ext cx="14793749" cy="1250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3385" indent="-291693" lvl="1">
              <a:lnSpc>
                <a:spcPts val="3372"/>
              </a:lnSpc>
              <a:buFont typeface="Arial"/>
              <a:buChar char="•"/>
            </a:pPr>
            <a:r>
              <a:rPr lang="en-US" sz="2702" spc="-5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Improve forecasting with more historical and external variables.</a:t>
            </a:r>
          </a:p>
          <a:p>
            <a:pPr algn="l" marL="583385" indent="-291693" lvl="1">
              <a:lnSpc>
                <a:spcPts val="3372"/>
              </a:lnSpc>
              <a:buFont typeface="Arial"/>
              <a:buChar char="•"/>
            </a:pPr>
            <a:r>
              <a:rPr lang="en-US" sz="2702" spc="-5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Tune model hyperparameters and evaluate additional approaches.</a:t>
            </a:r>
          </a:p>
          <a:p>
            <a:pPr algn="l" marL="583385" indent="-291693" lvl="1">
              <a:lnSpc>
                <a:spcPts val="3372"/>
              </a:lnSpc>
              <a:buFont typeface="Arial"/>
              <a:buChar char="•"/>
            </a:pPr>
            <a:r>
              <a:rPr lang="en-US" sz="2702" spc="-54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Explore stronger time-series forecasting methods.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DAHT3ufXBuQ</dc:identifier>
  <dcterms:modified xsi:type="dcterms:W3CDTF">2011-08-01T06:04:30Z</dcterms:modified>
  <cp:revision>1</cp:revision>
  <dc:title>Hotel-Booking-Demand-Prediction.pptx</dc:title>
</cp:coreProperties>
</file>